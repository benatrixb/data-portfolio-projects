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71" r:id="rId6"/>
    <p:sldId id="272" r:id="rId7"/>
    <p:sldId id="260" r:id="rId8"/>
    <p:sldId id="261" r:id="rId9"/>
    <p:sldId id="262" r:id="rId10"/>
    <p:sldId id="263" r:id="rId11"/>
    <p:sldId id="264" r:id="rId12"/>
    <p:sldId id="267" r:id="rId13"/>
    <p:sldId id="269" r:id="rId14"/>
    <p:sldId id="273" r:id="rId15"/>
    <p:sldId id="270" r:id="rId16"/>
    <p:sldId id="265" r:id="rId17"/>
    <p:sldId id="268" r:id="rId18"/>
    <p:sldId id="266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BBD783-1036-4B1A-B562-7326F927F1E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39A574D-A7A7-46A0-A380-0147233E0833}">
      <dgm:prSet phldrT="[Text]" phldr="0"/>
      <dgm:spPr/>
      <dgm:t>
        <a:bodyPr/>
        <a:lstStyle/>
        <a:p>
          <a:r>
            <a:rPr lang="lt-LT" b="1" dirty="0"/>
            <a:t> Raw data</a:t>
          </a:r>
        </a:p>
        <a:p>
          <a:r>
            <a:rPr lang="lt-LT" dirty="0"/>
            <a:t>(CSV)</a:t>
          </a:r>
          <a:endParaRPr lang="en-US" dirty="0"/>
        </a:p>
      </dgm:t>
    </dgm:pt>
    <dgm:pt modelId="{9D16057E-55E8-4BB4-B42C-8C295DB25536}" type="parTrans" cxnId="{BEBF4AA2-1075-4934-9FA6-5409E1186100}">
      <dgm:prSet/>
      <dgm:spPr/>
      <dgm:t>
        <a:bodyPr/>
        <a:lstStyle/>
        <a:p>
          <a:endParaRPr lang="en-US"/>
        </a:p>
      </dgm:t>
    </dgm:pt>
    <dgm:pt modelId="{EA09AC1C-04CD-4F4B-A3BD-31B96DD89B24}" type="sibTrans" cxnId="{BEBF4AA2-1075-4934-9FA6-5409E1186100}">
      <dgm:prSet/>
      <dgm:spPr/>
      <dgm:t>
        <a:bodyPr/>
        <a:lstStyle/>
        <a:p>
          <a:endParaRPr lang="en-US"/>
        </a:p>
      </dgm:t>
    </dgm:pt>
    <dgm:pt modelId="{E6683A02-E340-4101-BAC8-0B80ABD85BB4}">
      <dgm:prSet phldrT="[Text]" phldr="0"/>
      <dgm:spPr/>
      <dgm:t>
        <a:bodyPr/>
        <a:lstStyle/>
        <a:p>
          <a:r>
            <a:rPr lang="lt-LT" b="1" dirty="0"/>
            <a:t>INGESTION AND TRANSFORMATION</a:t>
          </a:r>
        </a:p>
        <a:p>
          <a:r>
            <a:rPr lang="lt-LT" dirty="0"/>
            <a:t> (Python|Pandas|SQLAlchemy)</a:t>
          </a:r>
          <a:endParaRPr lang="en-US" dirty="0"/>
        </a:p>
      </dgm:t>
    </dgm:pt>
    <dgm:pt modelId="{21ADE8A4-12FC-4A54-BDFB-BA97D41B788B}" type="parTrans" cxnId="{F591C74F-71B2-47AD-BC8F-73A10F281856}">
      <dgm:prSet/>
      <dgm:spPr/>
      <dgm:t>
        <a:bodyPr/>
        <a:lstStyle/>
        <a:p>
          <a:endParaRPr lang="en-US"/>
        </a:p>
      </dgm:t>
    </dgm:pt>
    <dgm:pt modelId="{AC5FFF4E-2B6C-44F7-A7B1-CFD7092BB7EB}" type="sibTrans" cxnId="{F591C74F-71B2-47AD-BC8F-73A10F281856}">
      <dgm:prSet/>
      <dgm:spPr/>
      <dgm:t>
        <a:bodyPr/>
        <a:lstStyle/>
        <a:p>
          <a:endParaRPr lang="en-US"/>
        </a:p>
      </dgm:t>
    </dgm:pt>
    <dgm:pt modelId="{F4AAD7D4-FE54-4123-8727-40F0BCD12EB9}">
      <dgm:prSet phldrT="[Text]" phldr="0"/>
      <dgm:spPr/>
      <dgm:t>
        <a:bodyPr/>
        <a:lstStyle/>
        <a:p>
          <a:r>
            <a:rPr lang="lt-LT" b="1" dirty="0"/>
            <a:t>STORAGE </a:t>
          </a:r>
        </a:p>
        <a:p>
          <a:r>
            <a:rPr lang="lt-LT" dirty="0"/>
            <a:t>(local PostgreSQL)</a:t>
          </a:r>
          <a:endParaRPr lang="en-US" dirty="0"/>
        </a:p>
      </dgm:t>
    </dgm:pt>
    <dgm:pt modelId="{D3849CC6-0E9C-4DF8-910D-81D56A440130}" type="parTrans" cxnId="{1D01980E-5C5E-4F82-8805-CAD823860527}">
      <dgm:prSet/>
      <dgm:spPr/>
      <dgm:t>
        <a:bodyPr/>
        <a:lstStyle/>
        <a:p>
          <a:endParaRPr lang="en-US"/>
        </a:p>
      </dgm:t>
    </dgm:pt>
    <dgm:pt modelId="{26F0349D-0B6F-4DE7-BA41-AA3632D2F06A}" type="sibTrans" cxnId="{1D01980E-5C5E-4F82-8805-CAD823860527}">
      <dgm:prSet/>
      <dgm:spPr/>
      <dgm:t>
        <a:bodyPr/>
        <a:lstStyle/>
        <a:p>
          <a:endParaRPr lang="en-US"/>
        </a:p>
      </dgm:t>
    </dgm:pt>
    <dgm:pt modelId="{D02073CB-F41C-499E-8A7F-9CA1F4829AEB}">
      <dgm:prSet phldrT="[Text]" phldr="0"/>
      <dgm:spPr/>
      <dgm:t>
        <a:bodyPr/>
        <a:lstStyle/>
        <a:p>
          <a:r>
            <a:rPr lang="lt-LT" b="1" dirty="0"/>
            <a:t>DATA MODELING, TESTING AND TRANSFORMATION</a:t>
          </a:r>
        </a:p>
        <a:p>
          <a:r>
            <a:rPr lang="lt-LT" dirty="0"/>
            <a:t>(Dbt)</a:t>
          </a:r>
          <a:endParaRPr lang="en-US" dirty="0"/>
        </a:p>
      </dgm:t>
    </dgm:pt>
    <dgm:pt modelId="{530614E8-D367-49E9-9711-0ACEE15A4F89}" type="parTrans" cxnId="{D4F28570-224F-41D3-B0C6-FB62B6FF512E}">
      <dgm:prSet/>
      <dgm:spPr/>
      <dgm:t>
        <a:bodyPr/>
        <a:lstStyle/>
        <a:p>
          <a:endParaRPr lang="en-US"/>
        </a:p>
      </dgm:t>
    </dgm:pt>
    <dgm:pt modelId="{B2914D71-ECFC-46B1-A017-536B2CE62E6A}" type="sibTrans" cxnId="{D4F28570-224F-41D3-B0C6-FB62B6FF512E}">
      <dgm:prSet/>
      <dgm:spPr/>
      <dgm:t>
        <a:bodyPr/>
        <a:lstStyle/>
        <a:p>
          <a:endParaRPr lang="en-US"/>
        </a:p>
      </dgm:t>
    </dgm:pt>
    <dgm:pt modelId="{2F1E6E90-3DDE-40E6-9632-8FC93156C2F0}">
      <dgm:prSet phldrT="[Text]" phldr="0"/>
      <dgm:spPr/>
      <dgm:t>
        <a:bodyPr/>
        <a:lstStyle/>
        <a:p>
          <a:r>
            <a:rPr lang="lt-LT" b="1" dirty="0"/>
            <a:t>DELIVERABLES</a:t>
          </a:r>
        </a:p>
        <a:p>
          <a:r>
            <a:rPr lang="lt-LT" dirty="0"/>
            <a:t>(PBI Dashboard, Excel Report, Pptx/pdf report)</a:t>
          </a:r>
        </a:p>
      </dgm:t>
    </dgm:pt>
    <dgm:pt modelId="{EF6D3AB8-3C2A-4717-ABAA-8564493185A7}" type="parTrans" cxnId="{75C587ED-4903-4052-BD7D-5A24D980F07E}">
      <dgm:prSet/>
      <dgm:spPr/>
      <dgm:t>
        <a:bodyPr/>
        <a:lstStyle/>
        <a:p>
          <a:endParaRPr lang="en-US"/>
        </a:p>
      </dgm:t>
    </dgm:pt>
    <dgm:pt modelId="{15C1C4F5-3028-41C6-BDCB-E69481084325}" type="sibTrans" cxnId="{75C587ED-4903-4052-BD7D-5A24D980F07E}">
      <dgm:prSet/>
      <dgm:spPr/>
      <dgm:t>
        <a:bodyPr/>
        <a:lstStyle/>
        <a:p>
          <a:endParaRPr lang="en-US"/>
        </a:p>
      </dgm:t>
    </dgm:pt>
    <dgm:pt modelId="{D07D6E28-571E-4489-8BA4-B7830438CD66}">
      <dgm:prSet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b="1" dirty="0"/>
            <a:t>VISUALIZATION</a:t>
          </a:r>
        </a:p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dirty="0"/>
            <a:t>(Power BI, Excel, Power point)</a:t>
          </a:r>
        </a:p>
        <a:p>
          <a:pPr marL="0" lvl="0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dirty="0"/>
        </a:p>
      </dgm:t>
    </dgm:pt>
    <dgm:pt modelId="{9ECA061D-629F-4B31-9535-4145BC4836B1}" type="parTrans" cxnId="{D4053C72-0D2A-4AC8-A9B9-7AB72AD6A00A}">
      <dgm:prSet/>
      <dgm:spPr/>
      <dgm:t>
        <a:bodyPr/>
        <a:lstStyle/>
        <a:p>
          <a:endParaRPr lang="en-US"/>
        </a:p>
      </dgm:t>
    </dgm:pt>
    <dgm:pt modelId="{E188368A-CB29-4447-BE2F-9037E9A1629A}" type="sibTrans" cxnId="{D4053C72-0D2A-4AC8-A9B9-7AB72AD6A00A}">
      <dgm:prSet/>
      <dgm:spPr/>
      <dgm:t>
        <a:bodyPr/>
        <a:lstStyle/>
        <a:p>
          <a:endParaRPr lang="en-US"/>
        </a:p>
      </dgm:t>
    </dgm:pt>
    <dgm:pt modelId="{2E00C400-6786-4272-B229-985348BFB3BB}" type="pres">
      <dgm:prSet presAssocID="{A9BBD783-1036-4B1A-B562-7326F927F1EE}" presName="diagram" presStyleCnt="0">
        <dgm:presLayoutVars>
          <dgm:dir/>
          <dgm:resizeHandles val="exact"/>
        </dgm:presLayoutVars>
      </dgm:prSet>
      <dgm:spPr/>
    </dgm:pt>
    <dgm:pt modelId="{9C95A114-B903-4E9B-8FBB-7C8F9BF63B8B}" type="pres">
      <dgm:prSet presAssocID="{339A574D-A7A7-46A0-A380-0147233E0833}" presName="node" presStyleLbl="node1" presStyleIdx="0" presStyleCnt="6">
        <dgm:presLayoutVars>
          <dgm:bulletEnabled val="1"/>
        </dgm:presLayoutVars>
      </dgm:prSet>
      <dgm:spPr/>
    </dgm:pt>
    <dgm:pt modelId="{96115914-0F8E-4A83-8AEF-29B4B69BB407}" type="pres">
      <dgm:prSet presAssocID="{EA09AC1C-04CD-4F4B-A3BD-31B96DD89B24}" presName="sibTrans" presStyleLbl="sibTrans2D1" presStyleIdx="0" presStyleCnt="5"/>
      <dgm:spPr/>
    </dgm:pt>
    <dgm:pt modelId="{F86040C0-A8E7-4AE8-8CF0-DE022EBCDE1E}" type="pres">
      <dgm:prSet presAssocID="{EA09AC1C-04CD-4F4B-A3BD-31B96DD89B24}" presName="connectorText" presStyleLbl="sibTrans2D1" presStyleIdx="0" presStyleCnt="5"/>
      <dgm:spPr/>
    </dgm:pt>
    <dgm:pt modelId="{825E9182-0BBE-4C9F-ABE5-CE7C7C9DCC88}" type="pres">
      <dgm:prSet presAssocID="{E6683A02-E340-4101-BAC8-0B80ABD85BB4}" presName="node" presStyleLbl="node1" presStyleIdx="1" presStyleCnt="6">
        <dgm:presLayoutVars>
          <dgm:bulletEnabled val="1"/>
        </dgm:presLayoutVars>
      </dgm:prSet>
      <dgm:spPr/>
    </dgm:pt>
    <dgm:pt modelId="{C5D61D54-2FE7-4A7F-A456-40F71086B02C}" type="pres">
      <dgm:prSet presAssocID="{AC5FFF4E-2B6C-44F7-A7B1-CFD7092BB7EB}" presName="sibTrans" presStyleLbl="sibTrans2D1" presStyleIdx="1" presStyleCnt="5"/>
      <dgm:spPr/>
    </dgm:pt>
    <dgm:pt modelId="{913BEC79-2644-4659-9F5C-69A596F72D6E}" type="pres">
      <dgm:prSet presAssocID="{AC5FFF4E-2B6C-44F7-A7B1-CFD7092BB7EB}" presName="connectorText" presStyleLbl="sibTrans2D1" presStyleIdx="1" presStyleCnt="5"/>
      <dgm:spPr/>
    </dgm:pt>
    <dgm:pt modelId="{3290F25D-4C73-4939-9BF3-F3F6EA59D269}" type="pres">
      <dgm:prSet presAssocID="{F4AAD7D4-FE54-4123-8727-40F0BCD12EB9}" presName="node" presStyleLbl="node1" presStyleIdx="2" presStyleCnt="6">
        <dgm:presLayoutVars>
          <dgm:bulletEnabled val="1"/>
        </dgm:presLayoutVars>
      </dgm:prSet>
      <dgm:spPr/>
    </dgm:pt>
    <dgm:pt modelId="{5C13826C-9BC5-4856-9688-EADECBEAC213}" type="pres">
      <dgm:prSet presAssocID="{26F0349D-0B6F-4DE7-BA41-AA3632D2F06A}" presName="sibTrans" presStyleLbl="sibTrans2D1" presStyleIdx="2" presStyleCnt="5"/>
      <dgm:spPr/>
    </dgm:pt>
    <dgm:pt modelId="{C85499DC-AABA-4A7E-AD20-E5BE851DB328}" type="pres">
      <dgm:prSet presAssocID="{26F0349D-0B6F-4DE7-BA41-AA3632D2F06A}" presName="connectorText" presStyleLbl="sibTrans2D1" presStyleIdx="2" presStyleCnt="5"/>
      <dgm:spPr/>
    </dgm:pt>
    <dgm:pt modelId="{65C3943E-E19A-410B-9D04-9A17BE750DA8}" type="pres">
      <dgm:prSet presAssocID="{D02073CB-F41C-499E-8A7F-9CA1F4829AEB}" presName="node" presStyleLbl="node1" presStyleIdx="3" presStyleCnt="6">
        <dgm:presLayoutVars>
          <dgm:bulletEnabled val="1"/>
        </dgm:presLayoutVars>
      </dgm:prSet>
      <dgm:spPr/>
    </dgm:pt>
    <dgm:pt modelId="{B59EE8BC-AE25-4373-8B58-CC4C876DDAF9}" type="pres">
      <dgm:prSet presAssocID="{B2914D71-ECFC-46B1-A017-536B2CE62E6A}" presName="sibTrans" presStyleLbl="sibTrans2D1" presStyleIdx="3" presStyleCnt="5"/>
      <dgm:spPr/>
    </dgm:pt>
    <dgm:pt modelId="{33AA6743-3B6A-4B94-A6AD-197986F73DC2}" type="pres">
      <dgm:prSet presAssocID="{B2914D71-ECFC-46B1-A017-536B2CE62E6A}" presName="connectorText" presStyleLbl="sibTrans2D1" presStyleIdx="3" presStyleCnt="5"/>
      <dgm:spPr/>
    </dgm:pt>
    <dgm:pt modelId="{3A72BA92-95E4-44F9-8C6C-9A996B7CA101}" type="pres">
      <dgm:prSet presAssocID="{D07D6E28-571E-4489-8BA4-B7830438CD66}" presName="node" presStyleLbl="node1" presStyleIdx="4" presStyleCnt="6">
        <dgm:presLayoutVars>
          <dgm:bulletEnabled val="1"/>
        </dgm:presLayoutVars>
      </dgm:prSet>
      <dgm:spPr/>
    </dgm:pt>
    <dgm:pt modelId="{68CB467C-D5CE-4A95-952D-43DFC9C90E95}" type="pres">
      <dgm:prSet presAssocID="{E188368A-CB29-4447-BE2F-9037E9A1629A}" presName="sibTrans" presStyleLbl="sibTrans2D1" presStyleIdx="4" presStyleCnt="5"/>
      <dgm:spPr/>
    </dgm:pt>
    <dgm:pt modelId="{B7C27762-E23F-434F-91EB-286307D25878}" type="pres">
      <dgm:prSet presAssocID="{E188368A-CB29-4447-BE2F-9037E9A1629A}" presName="connectorText" presStyleLbl="sibTrans2D1" presStyleIdx="4" presStyleCnt="5"/>
      <dgm:spPr/>
    </dgm:pt>
    <dgm:pt modelId="{3DB49890-3529-4970-B0A9-3F723B2BC2FE}" type="pres">
      <dgm:prSet presAssocID="{2F1E6E90-3DDE-40E6-9632-8FC93156C2F0}" presName="node" presStyleLbl="node1" presStyleIdx="5" presStyleCnt="6">
        <dgm:presLayoutVars>
          <dgm:bulletEnabled val="1"/>
        </dgm:presLayoutVars>
      </dgm:prSet>
      <dgm:spPr/>
    </dgm:pt>
  </dgm:ptLst>
  <dgm:cxnLst>
    <dgm:cxn modelId="{4A13AA0D-408E-471F-8754-B24A504B3099}" type="presOf" srcId="{F4AAD7D4-FE54-4123-8727-40F0BCD12EB9}" destId="{3290F25D-4C73-4939-9BF3-F3F6EA59D269}" srcOrd="0" destOrd="0" presId="urn:microsoft.com/office/officeart/2005/8/layout/process5"/>
    <dgm:cxn modelId="{1D01980E-5C5E-4F82-8805-CAD823860527}" srcId="{A9BBD783-1036-4B1A-B562-7326F927F1EE}" destId="{F4AAD7D4-FE54-4123-8727-40F0BCD12EB9}" srcOrd="2" destOrd="0" parTransId="{D3849CC6-0E9C-4DF8-910D-81D56A440130}" sibTransId="{26F0349D-0B6F-4DE7-BA41-AA3632D2F06A}"/>
    <dgm:cxn modelId="{63A71F10-D461-441D-82ED-E95BCA081B00}" type="presOf" srcId="{D07D6E28-571E-4489-8BA4-B7830438CD66}" destId="{3A72BA92-95E4-44F9-8C6C-9A996B7CA101}" srcOrd="0" destOrd="0" presId="urn:microsoft.com/office/officeart/2005/8/layout/process5"/>
    <dgm:cxn modelId="{2F11AB13-4AB5-4F55-A211-74F8B6FAF2E7}" type="presOf" srcId="{AC5FFF4E-2B6C-44F7-A7B1-CFD7092BB7EB}" destId="{913BEC79-2644-4659-9F5C-69A596F72D6E}" srcOrd="1" destOrd="0" presId="urn:microsoft.com/office/officeart/2005/8/layout/process5"/>
    <dgm:cxn modelId="{5F00D31A-02DA-4BD6-8D36-66B490E31115}" type="presOf" srcId="{EA09AC1C-04CD-4F4B-A3BD-31B96DD89B24}" destId="{96115914-0F8E-4A83-8AEF-29B4B69BB407}" srcOrd="0" destOrd="0" presId="urn:microsoft.com/office/officeart/2005/8/layout/process5"/>
    <dgm:cxn modelId="{B5725620-3548-4CB2-8C51-498317D43498}" type="presOf" srcId="{E188368A-CB29-4447-BE2F-9037E9A1629A}" destId="{B7C27762-E23F-434F-91EB-286307D25878}" srcOrd="1" destOrd="0" presId="urn:microsoft.com/office/officeart/2005/8/layout/process5"/>
    <dgm:cxn modelId="{488FFC24-5158-47BA-88AD-4FAD034E758A}" type="presOf" srcId="{E188368A-CB29-4447-BE2F-9037E9A1629A}" destId="{68CB467C-D5CE-4A95-952D-43DFC9C90E95}" srcOrd="0" destOrd="0" presId="urn:microsoft.com/office/officeart/2005/8/layout/process5"/>
    <dgm:cxn modelId="{41877C2F-FE93-471B-A9E8-7612FD0F38B1}" type="presOf" srcId="{B2914D71-ECFC-46B1-A017-536B2CE62E6A}" destId="{B59EE8BC-AE25-4373-8B58-CC4C876DDAF9}" srcOrd="0" destOrd="0" presId="urn:microsoft.com/office/officeart/2005/8/layout/process5"/>
    <dgm:cxn modelId="{672A9D5E-D19C-433B-A5B8-DBFDF0AC23E5}" type="presOf" srcId="{26F0349D-0B6F-4DE7-BA41-AA3632D2F06A}" destId="{5C13826C-9BC5-4856-9688-EADECBEAC213}" srcOrd="0" destOrd="0" presId="urn:microsoft.com/office/officeart/2005/8/layout/process5"/>
    <dgm:cxn modelId="{7C2F5D6F-13BC-45C5-8227-7B862F14EC69}" type="presOf" srcId="{2F1E6E90-3DDE-40E6-9632-8FC93156C2F0}" destId="{3DB49890-3529-4970-B0A9-3F723B2BC2FE}" srcOrd="0" destOrd="0" presId="urn:microsoft.com/office/officeart/2005/8/layout/process5"/>
    <dgm:cxn modelId="{F591C74F-71B2-47AD-BC8F-73A10F281856}" srcId="{A9BBD783-1036-4B1A-B562-7326F927F1EE}" destId="{E6683A02-E340-4101-BAC8-0B80ABD85BB4}" srcOrd="1" destOrd="0" parTransId="{21ADE8A4-12FC-4A54-BDFB-BA97D41B788B}" sibTransId="{AC5FFF4E-2B6C-44F7-A7B1-CFD7092BB7EB}"/>
    <dgm:cxn modelId="{D4F28570-224F-41D3-B0C6-FB62B6FF512E}" srcId="{A9BBD783-1036-4B1A-B562-7326F927F1EE}" destId="{D02073CB-F41C-499E-8A7F-9CA1F4829AEB}" srcOrd="3" destOrd="0" parTransId="{530614E8-D367-49E9-9711-0ACEE15A4F89}" sibTransId="{B2914D71-ECFC-46B1-A017-536B2CE62E6A}"/>
    <dgm:cxn modelId="{D4053C72-0D2A-4AC8-A9B9-7AB72AD6A00A}" srcId="{A9BBD783-1036-4B1A-B562-7326F927F1EE}" destId="{D07D6E28-571E-4489-8BA4-B7830438CD66}" srcOrd="4" destOrd="0" parTransId="{9ECA061D-629F-4B31-9535-4145BC4836B1}" sibTransId="{E188368A-CB29-4447-BE2F-9037E9A1629A}"/>
    <dgm:cxn modelId="{E41B847A-E909-44BD-9B6D-8F51AA38D7B9}" type="presOf" srcId="{26F0349D-0B6F-4DE7-BA41-AA3632D2F06A}" destId="{C85499DC-AABA-4A7E-AD20-E5BE851DB328}" srcOrd="1" destOrd="0" presId="urn:microsoft.com/office/officeart/2005/8/layout/process5"/>
    <dgm:cxn modelId="{ABBF3485-0210-45DE-817C-E77D0CCDD3C1}" type="presOf" srcId="{339A574D-A7A7-46A0-A380-0147233E0833}" destId="{9C95A114-B903-4E9B-8FBB-7C8F9BF63B8B}" srcOrd="0" destOrd="0" presId="urn:microsoft.com/office/officeart/2005/8/layout/process5"/>
    <dgm:cxn modelId="{BEB6D585-39A7-4EC5-A69D-E9858877852E}" type="presOf" srcId="{A9BBD783-1036-4B1A-B562-7326F927F1EE}" destId="{2E00C400-6786-4272-B229-985348BFB3BB}" srcOrd="0" destOrd="0" presId="urn:microsoft.com/office/officeart/2005/8/layout/process5"/>
    <dgm:cxn modelId="{BEBF4AA2-1075-4934-9FA6-5409E1186100}" srcId="{A9BBD783-1036-4B1A-B562-7326F927F1EE}" destId="{339A574D-A7A7-46A0-A380-0147233E0833}" srcOrd="0" destOrd="0" parTransId="{9D16057E-55E8-4BB4-B42C-8C295DB25536}" sibTransId="{EA09AC1C-04CD-4F4B-A3BD-31B96DD89B24}"/>
    <dgm:cxn modelId="{B138B4AD-30FD-46C9-8893-A3717B7C5067}" type="presOf" srcId="{AC5FFF4E-2B6C-44F7-A7B1-CFD7092BB7EB}" destId="{C5D61D54-2FE7-4A7F-A456-40F71086B02C}" srcOrd="0" destOrd="0" presId="urn:microsoft.com/office/officeart/2005/8/layout/process5"/>
    <dgm:cxn modelId="{60EDB1CA-2A29-414B-83D5-96D8DA5C1C60}" type="presOf" srcId="{D02073CB-F41C-499E-8A7F-9CA1F4829AEB}" destId="{65C3943E-E19A-410B-9D04-9A17BE750DA8}" srcOrd="0" destOrd="0" presId="urn:microsoft.com/office/officeart/2005/8/layout/process5"/>
    <dgm:cxn modelId="{8DBB54E6-3961-4513-885C-034C9FA40FFA}" type="presOf" srcId="{E6683A02-E340-4101-BAC8-0B80ABD85BB4}" destId="{825E9182-0BBE-4C9F-ABE5-CE7C7C9DCC88}" srcOrd="0" destOrd="0" presId="urn:microsoft.com/office/officeart/2005/8/layout/process5"/>
    <dgm:cxn modelId="{D4F919EC-8561-4859-83B3-ECA55A0EBDF2}" type="presOf" srcId="{EA09AC1C-04CD-4F4B-A3BD-31B96DD89B24}" destId="{F86040C0-A8E7-4AE8-8CF0-DE022EBCDE1E}" srcOrd="1" destOrd="0" presId="urn:microsoft.com/office/officeart/2005/8/layout/process5"/>
    <dgm:cxn modelId="{75C587ED-4903-4052-BD7D-5A24D980F07E}" srcId="{A9BBD783-1036-4B1A-B562-7326F927F1EE}" destId="{2F1E6E90-3DDE-40E6-9632-8FC93156C2F0}" srcOrd="5" destOrd="0" parTransId="{EF6D3AB8-3C2A-4717-ABAA-8564493185A7}" sibTransId="{15C1C4F5-3028-41C6-BDCB-E69481084325}"/>
    <dgm:cxn modelId="{9855B4EE-AFBD-412C-BDD3-B72C81BEEEEA}" type="presOf" srcId="{B2914D71-ECFC-46B1-A017-536B2CE62E6A}" destId="{33AA6743-3B6A-4B94-A6AD-197986F73DC2}" srcOrd="1" destOrd="0" presId="urn:microsoft.com/office/officeart/2005/8/layout/process5"/>
    <dgm:cxn modelId="{46AD8EED-D02C-44DD-B11F-ACDEB44533D6}" type="presParOf" srcId="{2E00C400-6786-4272-B229-985348BFB3BB}" destId="{9C95A114-B903-4E9B-8FBB-7C8F9BF63B8B}" srcOrd="0" destOrd="0" presId="urn:microsoft.com/office/officeart/2005/8/layout/process5"/>
    <dgm:cxn modelId="{8E13CDAD-C373-4142-8478-803083F4ACED}" type="presParOf" srcId="{2E00C400-6786-4272-B229-985348BFB3BB}" destId="{96115914-0F8E-4A83-8AEF-29B4B69BB407}" srcOrd="1" destOrd="0" presId="urn:microsoft.com/office/officeart/2005/8/layout/process5"/>
    <dgm:cxn modelId="{3A4D6676-4600-4140-A41D-6E63E6DE32D1}" type="presParOf" srcId="{96115914-0F8E-4A83-8AEF-29B4B69BB407}" destId="{F86040C0-A8E7-4AE8-8CF0-DE022EBCDE1E}" srcOrd="0" destOrd="0" presId="urn:microsoft.com/office/officeart/2005/8/layout/process5"/>
    <dgm:cxn modelId="{D1572897-4952-4AE4-B2B2-A3AC5BDE2A24}" type="presParOf" srcId="{2E00C400-6786-4272-B229-985348BFB3BB}" destId="{825E9182-0BBE-4C9F-ABE5-CE7C7C9DCC88}" srcOrd="2" destOrd="0" presId="urn:microsoft.com/office/officeart/2005/8/layout/process5"/>
    <dgm:cxn modelId="{BCA07CD9-A954-4BA2-890D-EF2307DAA7FD}" type="presParOf" srcId="{2E00C400-6786-4272-B229-985348BFB3BB}" destId="{C5D61D54-2FE7-4A7F-A456-40F71086B02C}" srcOrd="3" destOrd="0" presId="urn:microsoft.com/office/officeart/2005/8/layout/process5"/>
    <dgm:cxn modelId="{5136FD5E-41B7-483D-B18D-86AED0CCBC3A}" type="presParOf" srcId="{C5D61D54-2FE7-4A7F-A456-40F71086B02C}" destId="{913BEC79-2644-4659-9F5C-69A596F72D6E}" srcOrd="0" destOrd="0" presId="urn:microsoft.com/office/officeart/2005/8/layout/process5"/>
    <dgm:cxn modelId="{B3D7AEE7-AA9A-461E-9C7D-E10A8A4C976B}" type="presParOf" srcId="{2E00C400-6786-4272-B229-985348BFB3BB}" destId="{3290F25D-4C73-4939-9BF3-F3F6EA59D269}" srcOrd="4" destOrd="0" presId="urn:microsoft.com/office/officeart/2005/8/layout/process5"/>
    <dgm:cxn modelId="{31F94CB5-CB10-4396-9E63-28F5FAE6C636}" type="presParOf" srcId="{2E00C400-6786-4272-B229-985348BFB3BB}" destId="{5C13826C-9BC5-4856-9688-EADECBEAC213}" srcOrd="5" destOrd="0" presId="urn:microsoft.com/office/officeart/2005/8/layout/process5"/>
    <dgm:cxn modelId="{A6497D75-762D-4885-A162-3DAA66CC6626}" type="presParOf" srcId="{5C13826C-9BC5-4856-9688-EADECBEAC213}" destId="{C85499DC-AABA-4A7E-AD20-E5BE851DB328}" srcOrd="0" destOrd="0" presId="urn:microsoft.com/office/officeart/2005/8/layout/process5"/>
    <dgm:cxn modelId="{0ECF57B0-2CBF-4752-BCAD-283C3E7F872E}" type="presParOf" srcId="{2E00C400-6786-4272-B229-985348BFB3BB}" destId="{65C3943E-E19A-410B-9D04-9A17BE750DA8}" srcOrd="6" destOrd="0" presId="urn:microsoft.com/office/officeart/2005/8/layout/process5"/>
    <dgm:cxn modelId="{D0C0E37D-CB69-4637-8A30-5954D1D0C2FC}" type="presParOf" srcId="{2E00C400-6786-4272-B229-985348BFB3BB}" destId="{B59EE8BC-AE25-4373-8B58-CC4C876DDAF9}" srcOrd="7" destOrd="0" presId="urn:microsoft.com/office/officeart/2005/8/layout/process5"/>
    <dgm:cxn modelId="{06029433-03B1-47E8-B4A6-08184F870E57}" type="presParOf" srcId="{B59EE8BC-AE25-4373-8B58-CC4C876DDAF9}" destId="{33AA6743-3B6A-4B94-A6AD-197986F73DC2}" srcOrd="0" destOrd="0" presId="urn:microsoft.com/office/officeart/2005/8/layout/process5"/>
    <dgm:cxn modelId="{4EB9A96C-E83E-4BFF-8601-67958F3BC925}" type="presParOf" srcId="{2E00C400-6786-4272-B229-985348BFB3BB}" destId="{3A72BA92-95E4-44F9-8C6C-9A996B7CA101}" srcOrd="8" destOrd="0" presId="urn:microsoft.com/office/officeart/2005/8/layout/process5"/>
    <dgm:cxn modelId="{D886C233-E963-47F0-ABE7-DDAE37E534DB}" type="presParOf" srcId="{2E00C400-6786-4272-B229-985348BFB3BB}" destId="{68CB467C-D5CE-4A95-952D-43DFC9C90E95}" srcOrd="9" destOrd="0" presId="urn:microsoft.com/office/officeart/2005/8/layout/process5"/>
    <dgm:cxn modelId="{0FF57069-0D67-4FC4-9235-35531ADDBD8A}" type="presParOf" srcId="{68CB467C-D5CE-4A95-952D-43DFC9C90E95}" destId="{B7C27762-E23F-434F-91EB-286307D25878}" srcOrd="0" destOrd="0" presId="urn:microsoft.com/office/officeart/2005/8/layout/process5"/>
    <dgm:cxn modelId="{14B1897A-6418-45CC-88D3-E2BB762AE241}" type="presParOf" srcId="{2E00C400-6786-4272-B229-985348BFB3BB}" destId="{3DB49890-3529-4970-B0A9-3F723B2BC2FE}" srcOrd="10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CEE5FDF-A51F-4901-A632-B88FF2457E2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1DCB86C-359A-4075-9DCE-09FF2ABBC961}">
      <dgm:prSet custT="1"/>
      <dgm:spPr/>
      <dgm:t>
        <a:bodyPr/>
        <a:lstStyle/>
        <a:p>
          <a:r>
            <a:rPr lang="lt-LT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For replication of production environment Docker was implemented. 3 different containers where used.</a:t>
          </a:r>
          <a:endParaRPr lang="en-US" sz="20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BCF556E3-37B2-44E2-B602-9D9C2EF4C72F}" type="parTrans" cxnId="{4DCB2ABE-44C6-4546-A2A5-D297186EC453}">
      <dgm:prSet/>
      <dgm:spPr/>
      <dgm:t>
        <a:bodyPr/>
        <a:lstStyle/>
        <a:p>
          <a:endParaRPr lang="en-US"/>
        </a:p>
      </dgm:t>
    </dgm:pt>
    <dgm:pt modelId="{945FFEE6-811C-4C00-8CFE-7BD010BACC5D}" type="sibTrans" cxnId="{4DCB2ABE-44C6-4546-A2A5-D297186EC453}">
      <dgm:prSet/>
      <dgm:spPr/>
      <dgm:t>
        <a:bodyPr/>
        <a:lstStyle/>
        <a:p>
          <a:endParaRPr lang="en-US"/>
        </a:p>
      </dgm:t>
    </dgm:pt>
    <dgm:pt modelId="{42B3EBE5-35F3-4D13-A218-81D8F71F0C26}">
      <dgm:prSet custT="1"/>
      <dgm:spPr/>
      <dgm:t>
        <a:bodyPr/>
        <a:lstStyle/>
        <a:p>
          <a:r>
            <a:rPr lang="lt-LT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Airflow was used for pipeline orchestration.</a:t>
          </a:r>
          <a:endParaRPr lang="en-US" sz="20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06DA096-4B27-4844-858F-3C067612E7D2}" type="parTrans" cxnId="{9C4C24EE-13D9-4126-BF08-94459C5C905F}">
      <dgm:prSet/>
      <dgm:spPr/>
      <dgm:t>
        <a:bodyPr/>
        <a:lstStyle/>
        <a:p>
          <a:endParaRPr lang="en-US"/>
        </a:p>
      </dgm:t>
    </dgm:pt>
    <dgm:pt modelId="{7948CBD0-1EA0-4F07-985F-8009CBE804C4}" type="sibTrans" cxnId="{9C4C24EE-13D9-4126-BF08-94459C5C905F}">
      <dgm:prSet/>
      <dgm:spPr/>
      <dgm:t>
        <a:bodyPr/>
        <a:lstStyle/>
        <a:p>
          <a:endParaRPr lang="en-US"/>
        </a:p>
      </dgm:t>
    </dgm:pt>
    <dgm:pt modelId="{17D46937-95FC-44A9-963B-770AB9F11845}">
      <dgm:prSet custT="1"/>
      <dgm:spPr/>
      <dgm:t>
        <a:bodyPr/>
        <a:lstStyle/>
        <a:p>
          <a:r>
            <a:rPr lang="lt-LT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Dbt was used for model testing and dveloping a semantic layer.</a:t>
          </a:r>
          <a:endParaRPr lang="en-US" sz="20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93F0944-EF15-410E-9F01-6078A65F24C1}" type="parTrans" cxnId="{4D30E8CC-6259-48D9-9E54-D90284AE357B}">
      <dgm:prSet/>
      <dgm:spPr/>
      <dgm:t>
        <a:bodyPr/>
        <a:lstStyle/>
        <a:p>
          <a:endParaRPr lang="en-US"/>
        </a:p>
      </dgm:t>
    </dgm:pt>
    <dgm:pt modelId="{03A9B1E9-CD92-48FB-AF74-5DE8148CA1BE}" type="sibTrans" cxnId="{4D30E8CC-6259-48D9-9E54-D90284AE357B}">
      <dgm:prSet/>
      <dgm:spPr/>
      <dgm:t>
        <a:bodyPr/>
        <a:lstStyle/>
        <a:p>
          <a:endParaRPr lang="en-US"/>
        </a:p>
      </dgm:t>
    </dgm:pt>
    <dgm:pt modelId="{8E0998B2-6E72-4570-A400-7115FA9140AB}" type="pres">
      <dgm:prSet presAssocID="{9CEE5FDF-A51F-4901-A632-B88FF2457E2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8A0EEBA-2532-4293-8A59-1E4938B25A11}" type="pres">
      <dgm:prSet presAssocID="{D1DCB86C-359A-4075-9DCE-09FF2ABBC961}" presName="hierRoot1" presStyleCnt="0"/>
      <dgm:spPr/>
    </dgm:pt>
    <dgm:pt modelId="{4791FEBB-518C-472C-906C-8AB84F3770D3}" type="pres">
      <dgm:prSet presAssocID="{D1DCB86C-359A-4075-9DCE-09FF2ABBC961}" presName="composite" presStyleCnt="0"/>
      <dgm:spPr/>
    </dgm:pt>
    <dgm:pt modelId="{CB71A25E-1C41-40E1-8062-3D8D60D81144}" type="pres">
      <dgm:prSet presAssocID="{D1DCB86C-359A-4075-9DCE-09FF2ABBC961}" presName="background" presStyleLbl="node0" presStyleIdx="0" presStyleCnt="3"/>
      <dgm:spPr/>
    </dgm:pt>
    <dgm:pt modelId="{780D9AAD-1E33-41F7-8360-38DCAF385EF0}" type="pres">
      <dgm:prSet presAssocID="{D1DCB86C-359A-4075-9DCE-09FF2ABBC961}" presName="text" presStyleLbl="fgAcc0" presStyleIdx="0" presStyleCnt="3">
        <dgm:presLayoutVars>
          <dgm:chPref val="3"/>
        </dgm:presLayoutVars>
      </dgm:prSet>
      <dgm:spPr/>
    </dgm:pt>
    <dgm:pt modelId="{52291F51-E0DD-4C1C-894D-570296642DE1}" type="pres">
      <dgm:prSet presAssocID="{D1DCB86C-359A-4075-9DCE-09FF2ABBC961}" presName="hierChild2" presStyleCnt="0"/>
      <dgm:spPr/>
    </dgm:pt>
    <dgm:pt modelId="{5EBBD9DD-93C6-454E-A609-247D5B9879EE}" type="pres">
      <dgm:prSet presAssocID="{42B3EBE5-35F3-4D13-A218-81D8F71F0C26}" presName="hierRoot1" presStyleCnt="0"/>
      <dgm:spPr/>
    </dgm:pt>
    <dgm:pt modelId="{D779B8D0-36CA-4EC8-96B9-EAACC5EC4F49}" type="pres">
      <dgm:prSet presAssocID="{42B3EBE5-35F3-4D13-A218-81D8F71F0C26}" presName="composite" presStyleCnt="0"/>
      <dgm:spPr/>
    </dgm:pt>
    <dgm:pt modelId="{378580F8-0822-4546-9923-03E252879196}" type="pres">
      <dgm:prSet presAssocID="{42B3EBE5-35F3-4D13-A218-81D8F71F0C26}" presName="background" presStyleLbl="node0" presStyleIdx="1" presStyleCnt="3"/>
      <dgm:spPr/>
    </dgm:pt>
    <dgm:pt modelId="{440CFE97-8F75-455C-A8BF-45DED7CE96A3}" type="pres">
      <dgm:prSet presAssocID="{42B3EBE5-35F3-4D13-A218-81D8F71F0C26}" presName="text" presStyleLbl="fgAcc0" presStyleIdx="1" presStyleCnt="3">
        <dgm:presLayoutVars>
          <dgm:chPref val="3"/>
        </dgm:presLayoutVars>
      </dgm:prSet>
      <dgm:spPr/>
    </dgm:pt>
    <dgm:pt modelId="{B22BAC98-B66A-47DD-AB42-1F8E5075085A}" type="pres">
      <dgm:prSet presAssocID="{42B3EBE5-35F3-4D13-A218-81D8F71F0C26}" presName="hierChild2" presStyleCnt="0"/>
      <dgm:spPr/>
    </dgm:pt>
    <dgm:pt modelId="{8003BD2B-CB65-4A3C-9DA3-51F2840D6F30}" type="pres">
      <dgm:prSet presAssocID="{17D46937-95FC-44A9-963B-770AB9F11845}" presName="hierRoot1" presStyleCnt="0"/>
      <dgm:spPr/>
    </dgm:pt>
    <dgm:pt modelId="{7ABE8735-4606-413F-9D7C-FB635437BCF4}" type="pres">
      <dgm:prSet presAssocID="{17D46937-95FC-44A9-963B-770AB9F11845}" presName="composite" presStyleCnt="0"/>
      <dgm:spPr/>
    </dgm:pt>
    <dgm:pt modelId="{29558931-1AAE-4681-A74A-DD8813146079}" type="pres">
      <dgm:prSet presAssocID="{17D46937-95FC-44A9-963B-770AB9F11845}" presName="background" presStyleLbl="node0" presStyleIdx="2" presStyleCnt="3"/>
      <dgm:spPr/>
    </dgm:pt>
    <dgm:pt modelId="{87D95289-0B1D-4E9B-9493-DFDDF7B2092A}" type="pres">
      <dgm:prSet presAssocID="{17D46937-95FC-44A9-963B-770AB9F11845}" presName="text" presStyleLbl="fgAcc0" presStyleIdx="2" presStyleCnt="3">
        <dgm:presLayoutVars>
          <dgm:chPref val="3"/>
        </dgm:presLayoutVars>
      </dgm:prSet>
      <dgm:spPr/>
    </dgm:pt>
    <dgm:pt modelId="{5CB0B2C6-A216-4A74-ADE9-1691D328623E}" type="pres">
      <dgm:prSet presAssocID="{17D46937-95FC-44A9-963B-770AB9F11845}" presName="hierChild2" presStyleCnt="0"/>
      <dgm:spPr/>
    </dgm:pt>
  </dgm:ptLst>
  <dgm:cxnLst>
    <dgm:cxn modelId="{6E6F2600-FFC2-42E2-B5EC-5C2D70E8ACD6}" type="presOf" srcId="{17D46937-95FC-44A9-963B-770AB9F11845}" destId="{87D95289-0B1D-4E9B-9493-DFDDF7B2092A}" srcOrd="0" destOrd="0" presId="urn:microsoft.com/office/officeart/2005/8/layout/hierarchy1"/>
    <dgm:cxn modelId="{DC64EE4C-C824-4739-AA88-13D9179FD771}" type="presOf" srcId="{9CEE5FDF-A51F-4901-A632-B88FF2457E2C}" destId="{8E0998B2-6E72-4570-A400-7115FA9140AB}" srcOrd="0" destOrd="0" presId="urn:microsoft.com/office/officeart/2005/8/layout/hierarchy1"/>
    <dgm:cxn modelId="{451CC8AA-23E4-41A8-96DC-196400191332}" type="presOf" srcId="{D1DCB86C-359A-4075-9DCE-09FF2ABBC961}" destId="{780D9AAD-1E33-41F7-8360-38DCAF385EF0}" srcOrd="0" destOrd="0" presId="urn:microsoft.com/office/officeart/2005/8/layout/hierarchy1"/>
    <dgm:cxn modelId="{4DCB2ABE-44C6-4546-A2A5-D297186EC453}" srcId="{9CEE5FDF-A51F-4901-A632-B88FF2457E2C}" destId="{D1DCB86C-359A-4075-9DCE-09FF2ABBC961}" srcOrd="0" destOrd="0" parTransId="{BCF556E3-37B2-44E2-B602-9D9C2EF4C72F}" sibTransId="{945FFEE6-811C-4C00-8CFE-7BD010BACC5D}"/>
    <dgm:cxn modelId="{4D30E8CC-6259-48D9-9E54-D90284AE357B}" srcId="{9CEE5FDF-A51F-4901-A632-B88FF2457E2C}" destId="{17D46937-95FC-44A9-963B-770AB9F11845}" srcOrd="2" destOrd="0" parTransId="{593F0944-EF15-410E-9F01-6078A65F24C1}" sibTransId="{03A9B1E9-CD92-48FB-AF74-5DE8148CA1BE}"/>
    <dgm:cxn modelId="{553305E0-C905-4B91-BE02-C1FCBF84F69D}" type="presOf" srcId="{42B3EBE5-35F3-4D13-A218-81D8F71F0C26}" destId="{440CFE97-8F75-455C-A8BF-45DED7CE96A3}" srcOrd="0" destOrd="0" presId="urn:microsoft.com/office/officeart/2005/8/layout/hierarchy1"/>
    <dgm:cxn modelId="{9C4C24EE-13D9-4126-BF08-94459C5C905F}" srcId="{9CEE5FDF-A51F-4901-A632-B88FF2457E2C}" destId="{42B3EBE5-35F3-4D13-A218-81D8F71F0C26}" srcOrd="1" destOrd="0" parTransId="{406DA096-4B27-4844-858F-3C067612E7D2}" sibTransId="{7948CBD0-1EA0-4F07-985F-8009CBE804C4}"/>
    <dgm:cxn modelId="{68096BAF-A7A0-4B48-ABA3-99442E72C0DD}" type="presParOf" srcId="{8E0998B2-6E72-4570-A400-7115FA9140AB}" destId="{58A0EEBA-2532-4293-8A59-1E4938B25A11}" srcOrd="0" destOrd="0" presId="urn:microsoft.com/office/officeart/2005/8/layout/hierarchy1"/>
    <dgm:cxn modelId="{8533A158-F94A-42D0-99D7-1BD8D92E7BE1}" type="presParOf" srcId="{58A0EEBA-2532-4293-8A59-1E4938B25A11}" destId="{4791FEBB-518C-472C-906C-8AB84F3770D3}" srcOrd="0" destOrd="0" presId="urn:microsoft.com/office/officeart/2005/8/layout/hierarchy1"/>
    <dgm:cxn modelId="{7ED7E7B0-D5FB-48DC-A266-A1DDEB409919}" type="presParOf" srcId="{4791FEBB-518C-472C-906C-8AB84F3770D3}" destId="{CB71A25E-1C41-40E1-8062-3D8D60D81144}" srcOrd="0" destOrd="0" presId="urn:microsoft.com/office/officeart/2005/8/layout/hierarchy1"/>
    <dgm:cxn modelId="{27E6A110-76A8-42C5-9B13-E285DF2DFF16}" type="presParOf" srcId="{4791FEBB-518C-472C-906C-8AB84F3770D3}" destId="{780D9AAD-1E33-41F7-8360-38DCAF385EF0}" srcOrd="1" destOrd="0" presId="urn:microsoft.com/office/officeart/2005/8/layout/hierarchy1"/>
    <dgm:cxn modelId="{C6EF5F6F-E033-4C4A-A349-69A00557997E}" type="presParOf" srcId="{58A0EEBA-2532-4293-8A59-1E4938B25A11}" destId="{52291F51-E0DD-4C1C-894D-570296642DE1}" srcOrd="1" destOrd="0" presId="urn:microsoft.com/office/officeart/2005/8/layout/hierarchy1"/>
    <dgm:cxn modelId="{6C3376BC-42A8-452E-8170-B14344F91946}" type="presParOf" srcId="{8E0998B2-6E72-4570-A400-7115FA9140AB}" destId="{5EBBD9DD-93C6-454E-A609-247D5B9879EE}" srcOrd="1" destOrd="0" presId="urn:microsoft.com/office/officeart/2005/8/layout/hierarchy1"/>
    <dgm:cxn modelId="{82DBE772-14AD-4663-BAE5-D175C0D3B8C9}" type="presParOf" srcId="{5EBBD9DD-93C6-454E-A609-247D5B9879EE}" destId="{D779B8D0-36CA-4EC8-96B9-EAACC5EC4F49}" srcOrd="0" destOrd="0" presId="urn:microsoft.com/office/officeart/2005/8/layout/hierarchy1"/>
    <dgm:cxn modelId="{9FB05714-8252-40FB-A8CD-B85728A22C23}" type="presParOf" srcId="{D779B8D0-36CA-4EC8-96B9-EAACC5EC4F49}" destId="{378580F8-0822-4546-9923-03E252879196}" srcOrd="0" destOrd="0" presId="urn:microsoft.com/office/officeart/2005/8/layout/hierarchy1"/>
    <dgm:cxn modelId="{CFDA823B-FEB9-4DB4-A6B8-5640C71D2930}" type="presParOf" srcId="{D779B8D0-36CA-4EC8-96B9-EAACC5EC4F49}" destId="{440CFE97-8F75-455C-A8BF-45DED7CE96A3}" srcOrd="1" destOrd="0" presId="urn:microsoft.com/office/officeart/2005/8/layout/hierarchy1"/>
    <dgm:cxn modelId="{AB7C95F9-6F93-47D5-813D-2373374E1533}" type="presParOf" srcId="{5EBBD9DD-93C6-454E-A609-247D5B9879EE}" destId="{B22BAC98-B66A-47DD-AB42-1F8E5075085A}" srcOrd="1" destOrd="0" presId="urn:microsoft.com/office/officeart/2005/8/layout/hierarchy1"/>
    <dgm:cxn modelId="{97862C55-1F42-467E-A333-B9D462981FF5}" type="presParOf" srcId="{8E0998B2-6E72-4570-A400-7115FA9140AB}" destId="{8003BD2B-CB65-4A3C-9DA3-51F2840D6F30}" srcOrd="2" destOrd="0" presId="urn:microsoft.com/office/officeart/2005/8/layout/hierarchy1"/>
    <dgm:cxn modelId="{1B644389-9EBE-43FD-B603-FED33FA0BA6B}" type="presParOf" srcId="{8003BD2B-CB65-4A3C-9DA3-51F2840D6F30}" destId="{7ABE8735-4606-413F-9D7C-FB635437BCF4}" srcOrd="0" destOrd="0" presId="urn:microsoft.com/office/officeart/2005/8/layout/hierarchy1"/>
    <dgm:cxn modelId="{08E88277-4E8C-474F-9FA1-CE580801496E}" type="presParOf" srcId="{7ABE8735-4606-413F-9D7C-FB635437BCF4}" destId="{29558931-1AAE-4681-A74A-DD8813146079}" srcOrd="0" destOrd="0" presId="urn:microsoft.com/office/officeart/2005/8/layout/hierarchy1"/>
    <dgm:cxn modelId="{18A7217C-9301-4FC0-833D-31529C2EC65F}" type="presParOf" srcId="{7ABE8735-4606-413F-9D7C-FB635437BCF4}" destId="{87D95289-0B1D-4E9B-9493-DFDDF7B2092A}" srcOrd="1" destOrd="0" presId="urn:microsoft.com/office/officeart/2005/8/layout/hierarchy1"/>
    <dgm:cxn modelId="{5A0AF5E5-D406-4F08-81F6-2B1801B9E6CE}" type="presParOf" srcId="{8003BD2B-CB65-4A3C-9DA3-51F2840D6F30}" destId="{5CB0B2C6-A216-4A74-ADE9-1691D328623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6976928-71D6-41C7-9829-D7CDBF3101C7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972FE15-6E85-41AF-86A5-7DEF314C5E60}">
      <dgm:prSet/>
      <dgm:spPr/>
      <dgm:t>
        <a:bodyPr/>
        <a:lstStyle/>
        <a:p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We developed a case study report which is attached to the documents in pdf format. 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AEEA69D-CF21-4CA4-B58C-F3080E5CBF53}" type="parTrans" cxnId="{3E5896C8-1368-40F2-B0E0-32B847485ED7}">
      <dgm:prSet/>
      <dgm:spPr/>
      <dgm:t>
        <a:bodyPr/>
        <a:lstStyle/>
        <a:p>
          <a:endParaRPr lang="en-US"/>
        </a:p>
      </dgm:t>
    </dgm:pt>
    <dgm:pt modelId="{0788A39C-E714-4414-95AC-FA255AF2AF9B}" type="sibTrans" cxnId="{3E5896C8-1368-40F2-B0E0-32B847485ED7}">
      <dgm:prSet/>
      <dgm:spPr/>
      <dgm:t>
        <a:bodyPr/>
        <a:lstStyle/>
        <a:p>
          <a:endParaRPr lang="en-US"/>
        </a:p>
      </dgm:t>
    </dgm:pt>
    <dgm:pt modelId="{ECB6A603-940F-4550-8E53-F99CE39FAB6C}">
      <dgm:prSet/>
      <dgm:spPr/>
      <dgm:t>
        <a:bodyPr/>
        <a:lstStyle/>
        <a:p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In this case report a pricing analysis and pricing change and expermentation is proposed.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282063-3814-42CC-8216-39A228C2DEA4}" type="parTrans" cxnId="{B4B81D86-A1BB-4B20-BBEF-A921EE1D0D9A}">
      <dgm:prSet/>
      <dgm:spPr/>
      <dgm:t>
        <a:bodyPr/>
        <a:lstStyle/>
        <a:p>
          <a:endParaRPr lang="en-US"/>
        </a:p>
      </dgm:t>
    </dgm:pt>
    <dgm:pt modelId="{37C37762-1298-4922-A146-20652C54929C}" type="sibTrans" cxnId="{B4B81D86-A1BB-4B20-BBEF-A921EE1D0D9A}">
      <dgm:prSet/>
      <dgm:spPr/>
      <dgm:t>
        <a:bodyPr/>
        <a:lstStyle/>
        <a:p>
          <a:endParaRPr lang="en-US"/>
        </a:p>
      </dgm:t>
    </dgm:pt>
    <dgm:pt modelId="{85CA95B9-AF0F-4B3F-BCD3-2FE448930291}" type="pres">
      <dgm:prSet presAssocID="{56976928-71D6-41C7-9829-D7CDBF3101C7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C595C86-6D66-45E4-9D71-BCBD9195C02B}" type="pres">
      <dgm:prSet presAssocID="{9972FE15-6E85-41AF-86A5-7DEF314C5E60}" presName="hierRoot1" presStyleCnt="0"/>
      <dgm:spPr/>
    </dgm:pt>
    <dgm:pt modelId="{F9EAEEA8-2D28-46AB-8B35-8B713F355B29}" type="pres">
      <dgm:prSet presAssocID="{9972FE15-6E85-41AF-86A5-7DEF314C5E60}" presName="composite" presStyleCnt="0"/>
      <dgm:spPr/>
    </dgm:pt>
    <dgm:pt modelId="{7C46C7EB-69B4-4135-897F-97520DB1B873}" type="pres">
      <dgm:prSet presAssocID="{9972FE15-6E85-41AF-86A5-7DEF314C5E60}" presName="background" presStyleLbl="node0" presStyleIdx="0" presStyleCnt="2"/>
      <dgm:spPr/>
    </dgm:pt>
    <dgm:pt modelId="{93969EDD-397A-424D-94C9-4418DEF0869F}" type="pres">
      <dgm:prSet presAssocID="{9972FE15-6E85-41AF-86A5-7DEF314C5E60}" presName="text" presStyleLbl="fgAcc0" presStyleIdx="0" presStyleCnt="2">
        <dgm:presLayoutVars>
          <dgm:chPref val="3"/>
        </dgm:presLayoutVars>
      </dgm:prSet>
      <dgm:spPr/>
    </dgm:pt>
    <dgm:pt modelId="{AD22BC92-C7B1-4CB7-85D6-0FB1C86DE1A1}" type="pres">
      <dgm:prSet presAssocID="{9972FE15-6E85-41AF-86A5-7DEF314C5E60}" presName="hierChild2" presStyleCnt="0"/>
      <dgm:spPr/>
    </dgm:pt>
    <dgm:pt modelId="{8F17E1E9-60E3-43E8-B56C-41365A00CAFB}" type="pres">
      <dgm:prSet presAssocID="{ECB6A603-940F-4550-8E53-F99CE39FAB6C}" presName="hierRoot1" presStyleCnt="0"/>
      <dgm:spPr/>
    </dgm:pt>
    <dgm:pt modelId="{7A3B4398-CE36-4370-9C1F-59D499D4186F}" type="pres">
      <dgm:prSet presAssocID="{ECB6A603-940F-4550-8E53-F99CE39FAB6C}" presName="composite" presStyleCnt="0"/>
      <dgm:spPr/>
    </dgm:pt>
    <dgm:pt modelId="{F649671D-A909-49DD-8D2D-0682990974A7}" type="pres">
      <dgm:prSet presAssocID="{ECB6A603-940F-4550-8E53-F99CE39FAB6C}" presName="background" presStyleLbl="node0" presStyleIdx="1" presStyleCnt="2"/>
      <dgm:spPr/>
    </dgm:pt>
    <dgm:pt modelId="{898F9A58-0CD4-4DF1-AF73-BC2A9C7CCF28}" type="pres">
      <dgm:prSet presAssocID="{ECB6A603-940F-4550-8E53-F99CE39FAB6C}" presName="text" presStyleLbl="fgAcc0" presStyleIdx="1" presStyleCnt="2">
        <dgm:presLayoutVars>
          <dgm:chPref val="3"/>
        </dgm:presLayoutVars>
      </dgm:prSet>
      <dgm:spPr/>
    </dgm:pt>
    <dgm:pt modelId="{C7757ADB-81AE-4FF0-8C77-D308DBE62691}" type="pres">
      <dgm:prSet presAssocID="{ECB6A603-940F-4550-8E53-F99CE39FAB6C}" presName="hierChild2" presStyleCnt="0"/>
      <dgm:spPr/>
    </dgm:pt>
  </dgm:ptLst>
  <dgm:cxnLst>
    <dgm:cxn modelId="{D7662548-7156-441E-9A46-14C391DFFF18}" type="presOf" srcId="{9972FE15-6E85-41AF-86A5-7DEF314C5E60}" destId="{93969EDD-397A-424D-94C9-4418DEF0869F}" srcOrd="0" destOrd="0" presId="urn:microsoft.com/office/officeart/2005/8/layout/hierarchy1"/>
    <dgm:cxn modelId="{136B3872-297E-42C1-967D-6E91744DA40D}" type="presOf" srcId="{ECB6A603-940F-4550-8E53-F99CE39FAB6C}" destId="{898F9A58-0CD4-4DF1-AF73-BC2A9C7CCF28}" srcOrd="0" destOrd="0" presId="urn:microsoft.com/office/officeart/2005/8/layout/hierarchy1"/>
    <dgm:cxn modelId="{B4B81D86-A1BB-4B20-BBEF-A921EE1D0D9A}" srcId="{56976928-71D6-41C7-9829-D7CDBF3101C7}" destId="{ECB6A603-940F-4550-8E53-F99CE39FAB6C}" srcOrd="1" destOrd="0" parTransId="{08282063-3814-42CC-8216-39A228C2DEA4}" sibTransId="{37C37762-1298-4922-A146-20652C54929C}"/>
    <dgm:cxn modelId="{94709AAB-32B3-4F69-9224-6507168FB8B5}" type="presOf" srcId="{56976928-71D6-41C7-9829-D7CDBF3101C7}" destId="{85CA95B9-AF0F-4B3F-BCD3-2FE448930291}" srcOrd="0" destOrd="0" presId="urn:microsoft.com/office/officeart/2005/8/layout/hierarchy1"/>
    <dgm:cxn modelId="{3E5896C8-1368-40F2-B0E0-32B847485ED7}" srcId="{56976928-71D6-41C7-9829-D7CDBF3101C7}" destId="{9972FE15-6E85-41AF-86A5-7DEF314C5E60}" srcOrd="0" destOrd="0" parTransId="{3AEEA69D-CF21-4CA4-B58C-F3080E5CBF53}" sibTransId="{0788A39C-E714-4414-95AC-FA255AF2AF9B}"/>
    <dgm:cxn modelId="{B7AC786D-5A1C-44DB-8E9D-F9CE3ED7B36A}" type="presParOf" srcId="{85CA95B9-AF0F-4B3F-BCD3-2FE448930291}" destId="{DC595C86-6D66-45E4-9D71-BCBD9195C02B}" srcOrd="0" destOrd="0" presId="urn:microsoft.com/office/officeart/2005/8/layout/hierarchy1"/>
    <dgm:cxn modelId="{4E263037-66D1-4D9E-8DFE-A541EA35D190}" type="presParOf" srcId="{DC595C86-6D66-45E4-9D71-BCBD9195C02B}" destId="{F9EAEEA8-2D28-46AB-8B35-8B713F355B29}" srcOrd="0" destOrd="0" presId="urn:microsoft.com/office/officeart/2005/8/layout/hierarchy1"/>
    <dgm:cxn modelId="{1E50B34C-6D85-44DB-A569-E0D6AAB7223F}" type="presParOf" srcId="{F9EAEEA8-2D28-46AB-8B35-8B713F355B29}" destId="{7C46C7EB-69B4-4135-897F-97520DB1B873}" srcOrd="0" destOrd="0" presId="urn:microsoft.com/office/officeart/2005/8/layout/hierarchy1"/>
    <dgm:cxn modelId="{9630D174-4003-452E-AFCE-A8BFEA1A6FAB}" type="presParOf" srcId="{F9EAEEA8-2D28-46AB-8B35-8B713F355B29}" destId="{93969EDD-397A-424D-94C9-4418DEF0869F}" srcOrd="1" destOrd="0" presId="urn:microsoft.com/office/officeart/2005/8/layout/hierarchy1"/>
    <dgm:cxn modelId="{2507F40E-71B0-4D11-91A2-530B03D3F41C}" type="presParOf" srcId="{DC595C86-6D66-45E4-9D71-BCBD9195C02B}" destId="{AD22BC92-C7B1-4CB7-85D6-0FB1C86DE1A1}" srcOrd="1" destOrd="0" presId="urn:microsoft.com/office/officeart/2005/8/layout/hierarchy1"/>
    <dgm:cxn modelId="{4F1106D5-1A1B-464D-A4B4-118CA80C7003}" type="presParOf" srcId="{85CA95B9-AF0F-4B3F-BCD3-2FE448930291}" destId="{8F17E1E9-60E3-43E8-B56C-41365A00CAFB}" srcOrd="1" destOrd="0" presId="urn:microsoft.com/office/officeart/2005/8/layout/hierarchy1"/>
    <dgm:cxn modelId="{4F52EB66-F2ED-4490-A556-179E780FC9FE}" type="presParOf" srcId="{8F17E1E9-60E3-43E8-B56C-41365A00CAFB}" destId="{7A3B4398-CE36-4370-9C1F-59D499D4186F}" srcOrd="0" destOrd="0" presId="urn:microsoft.com/office/officeart/2005/8/layout/hierarchy1"/>
    <dgm:cxn modelId="{AE1E8E13-C763-4C92-86E2-A523DC3223D0}" type="presParOf" srcId="{7A3B4398-CE36-4370-9C1F-59D499D4186F}" destId="{F649671D-A909-49DD-8D2D-0682990974A7}" srcOrd="0" destOrd="0" presId="urn:microsoft.com/office/officeart/2005/8/layout/hierarchy1"/>
    <dgm:cxn modelId="{84ECB1CA-F189-4CF4-AF66-4E8836026C75}" type="presParOf" srcId="{7A3B4398-CE36-4370-9C1F-59D499D4186F}" destId="{898F9A58-0CD4-4DF1-AF73-BC2A9C7CCF28}" srcOrd="1" destOrd="0" presId="urn:microsoft.com/office/officeart/2005/8/layout/hierarchy1"/>
    <dgm:cxn modelId="{E1B8B4CC-2B07-4317-B299-AA460EAAB5D9}" type="presParOf" srcId="{8F17E1E9-60E3-43E8-B56C-41365A00CAFB}" destId="{C7757ADB-81AE-4FF0-8C77-D308DBE6269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57E227A-2CE8-4661-88A5-BB038AE1E73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CBDA4AE-9FAF-4A27-BE54-D2E2E15C662B}">
      <dgm:prSet/>
      <dgm:spPr/>
      <dgm:t>
        <a:bodyPr/>
        <a:lstStyle/>
        <a:p>
          <a:r>
            <a:rPr lang="lt-LT" b="1" dirty="0">
              <a:latin typeface="Times New Roman" panose="02020603050405020304" pitchFamily="18" charset="0"/>
              <a:cs typeface="Times New Roman" panose="02020603050405020304" pitchFamily="18" charset="0"/>
            </a:rPr>
            <a:t>PRODUCT: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 Diversify the revenue and profit generation over different products to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mitigate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 the supply chain risks.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DD73E87-E258-41D9-85E3-3363769A8AF5}" type="parTrans" cxnId="{30BF8DEE-3785-4917-B081-BEC7802E2933}">
      <dgm:prSet/>
      <dgm:spPr/>
      <dgm:t>
        <a:bodyPr/>
        <a:lstStyle/>
        <a:p>
          <a:endParaRPr lang="en-US"/>
        </a:p>
      </dgm:t>
    </dgm:pt>
    <dgm:pt modelId="{AB42E557-1120-4641-BE84-C8BEB3F4E74D}" type="sibTrans" cxnId="{30BF8DEE-3785-4917-B081-BEC7802E2933}">
      <dgm:prSet/>
      <dgm:spPr/>
      <dgm:t>
        <a:bodyPr/>
        <a:lstStyle/>
        <a:p>
          <a:endParaRPr lang="en-US"/>
        </a:p>
      </dgm:t>
    </dgm:pt>
    <dgm:pt modelId="{8327F25F-AC48-40B1-A922-8C9D9B3E145E}">
      <dgm:prSet/>
      <dgm:spPr/>
      <dgm:t>
        <a:bodyPr/>
        <a:lstStyle/>
        <a:p>
          <a:r>
            <a:rPr lang="lt-LT" b="1" dirty="0">
              <a:latin typeface="Times New Roman" panose="02020603050405020304" pitchFamily="18" charset="0"/>
              <a:cs typeface="Times New Roman" panose="02020603050405020304" pitchFamily="18" charset="0"/>
            </a:rPr>
            <a:t>PRICING: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 Experiment with pricing to develope better margins for different products to make greater profit.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180515D-54B7-4032-809D-71BF01C0A9DA}" type="parTrans" cxnId="{67BBD0D9-80B9-4322-97F5-260E9B724F35}">
      <dgm:prSet/>
      <dgm:spPr/>
      <dgm:t>
        <a:bodyPr/>
        <a:lstStyle/>
        <a:p>
          <a:endParaRPr lang="en-US"/>
        </a:p>
      </dgm:t>
    </dgm:pt>
    <dgm:pt modelId="{95861D09-F9F4-4608-A873-228B227A4F1A}" type="sibTrans" cxnId="{67BBD0D9-80B9-4322-97F5-260E9B724F35}">
      <dgm:prSet/>
      <dgm:spPr/>
      <dgm:t>
        <a:bodyPr/>
        <a:lstStyle/>
        <a:p>
          <a:endParaRPr lang="en-US"/>
        </a:p>
      </dgm:t>
    </dgm:pt>
    <dgm:pt modelId="{79EC5B80-B64E-4688-88F0-2C0EB523A893}">
      <dgm:prSet/>
      <dgm:spPr/>
      <dgm:t>
        <a:bodyPr/>
        <a:lstStyle/>
        <a:p>
          <a:r>
            <a:rPr lang="lt-LT" b="1" dirty="0">
              <a:latin typeface="Times New Roman" panose="02020603050405020304" pitchFamily="18" charset="0"/>
              <a:cs typeface="Times New Roman" panose="02020603050405020304" pitchFamily="18" charset="0"/>
            </a:rPr>
            <a:t>SCALING: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 Get store operating cost data and analyze if it would be profitable to open more stores at Airport locations. Open more shops in Ciudad de Mexico.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8F9C7EF-2056-40CA-96AC-6EA7078ED848}" type="parTrans" cxnId="{FAB4DF27-22CE-4FF8-BBB4-6D0DA0EDB8FF}">
      <dgm:prSet/>
      <dgm:spPr/>
      <dgm:t>
        <a:bodyPr/>
        <a:lstStyle/>
        <a:p>
          <a:endParaRPr lang="en-US"/>
        </a:p>
      </dgm:t>
    </dgm:pt>
    <dgm:pt modelId="{54F472A6-A8DC-4F6F-8585-7B70600F3CB0}" type="sibTrans" cxnId="{FAB4DF27-22CE-4FF8-BBB4-6D0DA0EDB8FF}">
      <dgm:prSet/>
      <dgm:spPr/>
      <dgm:t>
        <a:bodyPr/>
        <a:lstStyle/>
        <a:p>
          <a:endParaRPr lang="en-US"/>
        </a:p>
      </dgm:t>
    </dgm:pt>
    <dgm:pt modelId="{6E71CFB9-9058-42C0-BB65-C6A79C8AAA32}">
      <dgm:prSet/>
      <dgm:spPr/>
      <dgm:t>
        <a:bodyPr/>
        <a:lstStyle/>
        <a:p>
          <a:r>
            <a:rPr lang="lt-LT" b="1" dirty="0">
              <a:latin typeface="Times New Roman" panose="02020603050405020304" pitchFamily="18" charset="0"/>
              <a:cs typeface="Times New Roman" panose="02020603050405020304" pitchFamily="18" charset="0"/>
            </a:rPr>
            <a:t>INVENTORY: 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Greatest inventory risks are at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December </a:t>
          </a:r>
          <a:r>
            <a:rPr lang="lt-LT" dirty="0">
              <a:latin typeface="Times New Roman" panose="02020603050405020304" pitchFamily="18" charset="0"/>
              <a:cs typeface="Times New Roman" panose="02020603050405020304" pitchFamily="18" charset="0"/>
            </a:rPr>
            <a:t>and April, check inventory before those months and stock up if needed. </a:t>
          </a:r>
          <a:r>
            <a:rPr lang="lt-LT" b="1" dirty="0">
              <a:latin typeface="Times New Roman" panose="02020603050405020304" pitchFamily="18" charset="0"/>
              <a:cs typeface="Times New Roman" panose="02020603050405020304" pitchFamily="18" charset="0"/>
            </a:rPr>
            <a:t>Stock up on Colorbuds and Action figures.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F2EA28-8FC2-453A-BDCE-2BD0F815C1DA}" type="parTrans" cxnId="{1024675B-0EF2-4259-841D-972C9AEA6D01}">
      <dgm:prSet/>
      <dgm:spPr/>
      <dgm:t>
        <a:bodyPr/>
        <a:lstStyle/>
        <a:p>
          <a:endParaRPr lang="en-US"/>
        </a:p>
      </dgm:t>
    </dgm:pt>
    <dgm:pt modelId="{7601B4C3-B0CB-4226-8E60-C5AA366A10D5}" type="sibTrans" cxnId="{1024675B-0EF2-4259-841D-972C9AEA6D01}">
      <dgm:prSet/>
      <dgm:spPr/>
      <dgm:t>
        <a:bodyPr/>
        <a:lstStyle/>
        <a:p>
          <a:endParaRPr lang="en-US"/>
        </a:p>
      </dgm:t>
    </dgm:pt>
    <dgm:pt modelId="{DE63B089-1797-4126-9405-774A69D206C1}" type="pres">
      <dgm:prSet presAssocID="{057E227A-2CE8-4661-88A5-BB038AE1E73C}" presName="linear" presStyleCnt="0">
        <dgm:presLayoutVars>
          <dgm:animLvl val="lvl"/>
          <dgm:resizeHandles val="exact"/>
        </dgm:presLayoutVars>
      </dgm:prSet>
      <dgm:spPr/>
    </dgm:pt>
    <dgm:pt modelId="{C7B62016-7DFB-45C2-BFBB-74160715A59B}" type="pres">
      <dgm:prSet presAssocID="{4CBDA4AE-9FAF-4A27-BE54-D2E2E15C662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54AAAA0-1B77-4F68-852F-868AF001E8FA}" type="pres">
      <dgm:prSet presAssocID="{AB42E557-1120-4641-BE84-C8BEB3F4E74D}" presName="spacer" presStyleCnt="0"/>
      <dgm:spPr/>
    </dgm:pt>
    <dgm:pt modelId="{0261E46D-02F9-4B21-813C-2EF08FA96206}" type="pres">
      <dgm:prSet presAssocID="{8327F25F-AC48-40B1-A922-8C9D9B3E145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8BB085C-B79C-4280-8CB6-AA7F0B4E5734}" type="pres">
      <dgm:prSet presAssocID="{95861D09-F9F4-4608-A873-228B227A4F1A}" presName="spacer" presStyleCnt="0"/>
      <dgm:spPr/>
    </dgm:pt>
    <dgm:pt modelId="{B6F6DB0E-BED0-4567-A318-42891C83F8CE}" type="pres">
      <dgm:prSet presAssocID="{79EC5B80-B64E-4688-88F0-2C0EB523A893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455800-EB85-43F2-A0A6-47585EC42C27}" type="pres">
      <dgm:prSet presAssocID="{54F472A6-A8DC-4F6F-8585-7B70600F3CB0}" presName="spacer" presStyleCnt="0"/>
      <dgm:spPr/>
    </dgm:pt>
    <dgm:pt modelId="{EC078EB3-DE8F-40AF-BF94-3CC52903EBF9}" type="pres">
      <dgm:prSet presAssocID="{6E71CFB9-9058-42C0-BB65-C6A79C8AAA32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B1519B16-1CC3-4399-8736-2340D8B0D135}" type="presOf" srcId="{057E227A-2CE8-4661-88A5-BB038AE1E73C}" destId="{DE63B089-1797-4126-9405-774A69D206C1}" srcOrd="0" destOrd="0" presId="urn:microsoft.com/office/officeart/2005/8/layout/vList2"/>
    <dgm:cxn modelId="{FAB4DF27-22CE-4FF8-BBB4-6D0DA0EDB8FF}" srcId="{057E227A-2CE8-4661-88A5-BB038AE1E73C}" destId="{79EC5B80-B64E-4688-88F0-2C0EB523A893}" srcOrd="2" destOrd="0" parTransId="{78F9C7EF-2056-40CA-96AC-6EA7078ED848}" sibTransId="{54F472A6-A8DC-4F6F-8585-7B70600F3CB0}"/>
    <dgm:cxn modelId="{1024675B-0EF2-4259-841D-972C9AEA6D01}" srcId="{057E227A-2CE8-4661-88A5-BB038AE1E73C}" destId="{6E71CFB9-9058-42C0-BB65-C6A79C8AAA32}" srcOrd="3" destOrd="0" parTransId="{66F2EA28-8FC2-453A-BDCE-2BD0F815C1DA}" sibTransId="{7601B4C3-B0CB-4226-8E60-C5AA366A10D5}"/>
    <dgm:cxn modelId="{4AD21DA6-21B1-44A1-BAFC-0AA8D2EC7016}" type="presOf" srcId="{8327F25F-AC48-40B1-A922-8C9D9B3E145E}" destId="{0261E46D-02F9-4B21-813C-2EF08FA96206}" srcOrd="0" destOrd="0" presId="urn:microsoft.com/office/officeart/2005/8/layout/vList2"/>
    <dgm:cxn modelId="{A30304CC-9FD4-4A97-856B-6AF380BB9B76}" type="presOf" srcId="{6E71CFB9-9058-42C0-BB65-C6A79C8AAA32}" destId="{EC078EB3-DE8F-40AF-BF94-3CC52903EBF9}" srcOrd="0" destOrd="0" presId="urn:microsoft.com/office/officeart/2005/8/layout/vList2"/>
    <dgm:cxn modelId="{5D9715D1-3228-4407-B7CF-8100EFC6009C}" type="presOf" srcId="{79EC5B80-B64E-4688-88F0-2C0EB523A893}" destId="{B6F6DB0E-BED0-4567-A318-42891C83F8CE}" srcOrd="0" destOrd="0" presId="urn:microsoft.com/office/officeart/2005/8/layout/vList2"/>
    <dgm:cxn modelId="{67BBD0D9-80B9-4322-97F5-260E9B724F35}" srcId="{057E227A-2CE8-4661-88A5-BB038AE1E73C}" destId="{8327F25F-AC48-40B1-A922-8C9D9B3E145E}" srcOrd="1" destOrd="0" parTransId="{8180515D-54B7-4032-809D-71BF01C0A9DA}" sibTransId="{95861D09-F9F4-4608-A873-228B227A4F1A}"/>
    <dgm:cxn modelId="{30BF8DEE-3785-4917-B081-BEC7802E2933}" srcId="{057E227A-2CE8-4661-88A5-BB038AE1E73C}" destId="{4CBDA4AE-9FAF-4A27-BE54-D2E2E15C662B}" srcOrd="0" destOrd="0" parTransId="{5DD73E87-E258-41D9-85E3-3363769A8AF5}" sibTransId="{AB42E557-1120-4641-BE84-C8BEB3F4E74D}"/>
    <dgm:cxn modelId="{ACBE93FA-6587-4AF0-8654-762A2508BAFC}" type="presOf" srcId="{4CBDA4AE-9FAF-4A27-BE54-D2E2E15C662B}" destId="{C7B62016-7DFB-45C2-BFBB-74160715A59B}" srcOrd="0" destOrd="0" presId="urn:microsoft.com/office/officeart/2005/8/layout/vList2"/>
    <dgm:cxn modelId="{12447040-9DE4-4812-9ADF-A2F33D38077F}" type="presParOf" srcId="{DE63B089-1797-4126-9405-774A69D206C1}" destId="{C7B62016-7DFB-45C2-BFBB-74160715A59B}" srcOrd="0" destOrd="0" presId="urn:microsoft.com/office/officeart/2005/8/layout/vList2"/>
    <dgm:cxn modelId="{F05AF9A1-1DF0-4B68-9C88-012F5D4D10FF}" type="presParOf" srcId="{DE63B089-1797-4126-9405-774A69D206C1}" destId="{D54AAAA0-1B77-4F68-852F-868AF001E8FA}" srcOrd="1" destOrd="0" presId="urn:microsoft.com/office/officeart/2005/8/layout/vList2"/>
    <dgm:cxn modelId="{68E361E8-0BB6-4B9F-B4D5-9F8D71E03F37}" type="presParOf" srcId="{DE63B089-1797-4126-9405-774A69D206C1}" destId="{0261E46D-02F9-4B21-813C-2EF08FA96206}" srcOrd="2" destOrd="0" presId="urn:microsoft.com/office/officeart/2005/8/layout/vList2"/>
    <dgm:cxn modelId="{88C37301-B9E6-4A23-9154-12F64F224408}" type="presParOf" srcId="{DE63B089-1797-4126-9405-774A69D206C1}" destId="{88BB085C-B79C-4280-8CB6-AA7F0B4E5734}" srcOrd="3" destOrd="0" presId="urn:microsoft.com/office/officeart/2005/8/layout/vList2"/>
    <dgm:cxn modelId="{D6E4A656-39B5-4A52-83A0-C1BEB2533176}" type="presParOf" srcId="{DE63B089-1797-4126-9405-774A69D206C1}" destId="{B6F6DB0E-BED0-4567-A318-42891C83F8CE}" srcOrd="4" destOrd="0" presId="urn:microsoft.com/office/officeart/2005/8/layout/vList2"/>
    <dgm:cxn modelId="{A3B587CA-9C41-4051-B2BC-F022607C3A42}" type="presParOf" srcId="{DE63B089-1797-4126-9405-774A69D206C1}" destId="{33455800-EB85-43F2-A0A6-47585EC42C27}" srcOrd="5" destOrd="0" presId="urn:microsoft.com/office/officeart/2005/8/layout/vList2"/>
    <dgm:cxn modelId="{9B5243F0-D341-46AC-8CA4-749F1C3C3992}" type="presParOf" srcId="{DE63B089-1797-4126-9405-774A69D206C1}" destId="{EC078EB3-DE8F-40AF-BF94-3CC52903EBF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95A114-B903-4E9B-8FBB-7C8F9BF63B8B}">
      <dsp:nvSpPr>
        <dsp:cNvPr id="0" name=""/>
        <dsp:cNvSpPr/>
      </dsp:nvSpPr>
      <dsp:spPr>
        <a:xfrm>
          <a:off x="656699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 Raw data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(CSV)</a:t>
          </a:r>
          <a:endParaRPr lang="en-US" sz="1400" kern="1200" dirty="0"/>
        </a:p>
      </dsp:txBody>
      <dsp:txXfrm>
        <a:off x="701028" y="45810"/>
        <a:ext cx="2433836" cy="1424838"/>
      </dsp:txXfrm>
    </dsp:sp>
    <dsp:sp modelId="{96115914-0F8E-4A83-8AEF-29B4B69BB407}">
      <dsp:nvSpPr>
        <dsp:cNvPr id="0" name=""/>
        <dsp:cNvSpPr/>
      </dsp:nvSpPr>
      <dsp:spPr>
        <a:xfrm>
          <a:off x="3401173" y="445440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3401173" y="570556"/>
        <a:ext cx="374338" cy="375346"/>
      </dsp:txXfrm>
    </dsp:sp>
    <dsp:sp modelId="{825E9182-0BBE-4C9F-ABE5-CE7C7C9DCC88}">
      <dsp:nvSpPr>
        <dsp:cNvPr id="0" name=""/>
        <dsp:cNvSpPr/>
      </dsp:nvSpPr>
      <dsp:spPr>
        <a:xfrm>
          <a:off x="4188191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INGESTION AND TRANSFORMATION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 (Python|Pandas|SQLAlchemy)</a:t>
          </a:r>
          <a:endParaRPr lang="en-US" sz="1400" kern="1200" dirty="0"/>
        </a:p>
      </dsp:txBody>
      <dsp:txXfrm>
        <a:off x="4232520" y="45810"/>
        <a:ext cx="2433836" cy="1424838"/>
      </dsp:txXfrm>
    </dsp:sp>
    <dsp:sp modelId="{C5D61D54-2FE7-4A7F-A456-40F71086B02C}">
      <dsp:nvSpPr>
        <dsp:cNvPr id="0" name=""/>
        <dsp:cNvSpPr/>
      </dsp:nvSpPr>
      <dsp:spPr>
        <a:xfrm>
          <a:off x="6932665" y="445440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6932665" y="570556"/>
        <a:ext cx="374338" cy="375346"/>
      </dsp:txXfrm>
    </dsp:sp>
    <dsp:sp modelId="{3290F25D-4C73-4939-9BF3-F3F6EA59D269}">
      <dsp:nvSpPr>
        <dsp:cNvPr id="0" name=""/>
        <dsp:cNvSpPr/>
      </dsp:nvSpPr>
      <dsp:spPr>
        <a:xfrm>
          <a:off x="7719683" y="1481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STORAGE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(local PostgreSQL)</a:t>
          </a:r>
          <a:endParaRPr lang="en-US" sz="1400" kern="1200" dirty="0"/>
        </a:p>
      </dsp:txBody>
      <dsp:txXfrm>
        <a:off x="7764012" y="45810"/>
        <a:ext cx="2433836" cy="1424838"/>
      </dsp:txXfrm>
    </dsp:sp>
    <dsp:sp modelId="{5C13826C-9BC5-4856-9688-EADECBEAC213}">
      <dsp:nvSpPr>
        <dsp:cNvPr id="0" name=""/>
        <dsp:cNvSpPr/>
      </dsp:nvSpPr>
      <dsp:spPr>
        <a:xfrm rot="5400000">
          <a:off x="8713546" y="1691552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8793257" y="1736957"/>
        <a:ext cx="375346" cy="374338"/>
      </dsp:txXfrm>
    </dsp:sp>
    <dsp:sp modelId="{65C3943E-E19A-410B-9D04-9A17BE750DA8}">
      <dsp:nvSpPr>
        <dsp:cNvPr id="0" name=""/>
        <dsp:cNvSpPr/>
      </dsp:nvSpPr>
      <dsp:spPr>
        <a:xfrm>
          <a:off x="7719683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DATA MODELING, TESTING AND TRANSFORMATION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(Dbt)</a:t>
          </a:r>
          <a:endParaRPr lang="en-US" sz="1400" kern="1200" dirty="0"/>
        </a:p>
      </dsp:txBody>
      <dsp:txXfrm>
        <a:off x="7764012" y="2568304"/>
        <a:ext cx="2433836" cy="1424838"/>
      </dsp:txXfrm>
    </dsp:sp>
    <dsp:sp modelId="{B59EE8BC-AE25-4373-8B58-CC4C876DDAF9}">
      <dsp:nvSpPr>
        <dsp:cNvPr id="0" name=""/>
        <dsp:cNvSpPr/>
      </dsp:nvSpPr>
      <dsp:spPr>
        <a:xfrm rot="10800000">
          <a:off x="6962935" y="2967934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7123365" y="3093050"/>
        <a:ext cx="374338" cy="375346"/>
      </dsp:txXfrm>
    </dsp:sp>
    <dsp:sp modelId="{3A72BA92-95E4-44F9-8C6C-9A996B7CA101}">
      <dsp:nvSpPr>
        <dsp:cNvPr id="0" name=""/>
        <dsp:cNvSpPr/>
      </dsp:nvSpPr>
      <dsp:spPr>
        <a:xfrm>
          <a:off x="4188191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sz="1400" b="1" kern="1200" dirty="0"/>
            <a:t>VISUALIZATION</a:t>
          </a:r>
        </a:p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lt-LT" sz="1400" kern="1200" dirty="0"/>
            <a:t>(Power BI, Excel, Power point)</a:t>
          </a:r>
        </a:p>
        <a:p>
          <a:pPr marL="0"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4232520" y="2568304"/>
        <a:ext cx="2433836" cy="1424838"/>
      </dsp:txXfrm>
    </dsp:sp>
    <dsp:sp modelId="{68CB467C-D5CE-4A95-952D-43DFC9C90E95}">
      <dsp:nvSpPr>
        <dsp:cNvPr id="0" name=""/>
        <dsp:cNvSpPr/>
      </dsp:nvSpPr>
      <dsp:spPr>
        <a:xfrm rot="10800000">
          <a:off x="3431443" y="2967934"/>
          <a:ext cx="534768" cy="6255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3591873" y="3093050"/>
        <a:ext cx="374338" cy="375346"/>
      </dsp:txXfrm>
    </dsp:sp>
    <dsp:sp modelId="{3DB49890-3529-4970-B0A9-3F723B2BC2FE}">
      <dsp:nvSpPr>
        <dsp:cNvPr id="0" name=""/>
        <dsp:cNvSpPr/>
      </dsp:nvSpPr>
      <dsp:spPr>
        <a:xfrm>
          <a:off x="656699" y="2523975"/>
          <a:ext cx="2522494" cy="15134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b="1" kern="1200" dirty="0"/>
            <a:t>DELIVERABLES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1400" kern="1200" dirty="0"/>
            <a:t>(PBI Dashboard, Excel Report, Pptx/pdf report)</a:t>
          </a:r>
        </a:p>
      </dsp:txBody>
      <dsp:txXfrm>
        <a:off x="701028" y="2568304"/>
        <a:ext cx="2433836" cy="14248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1A25E-1C41-40E1-8062-3D8D60D81144}">
      <dsp:nvSpPr>
        <dsp:cNvPr id="0" name=""/>
        <dsp:cNvSpPr/>
      </dsp:nvSpPr>
      <dsp:spPr>
        <a:xfrm>
          <a:off x="0" y="533747"/>
          <a:ext cx="2740027" cy="173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D9AAD-1E33-41F7-8360-38DCAF385EF0}">
      <dsp:nvSpPr>
        <dsp:cNvPr id="0" name=""/>
        <dsp:cNvSpPr/>
      </dsp:nvSpPr>
      <dsp:spPr>
        <a:xfrm>
          <a:off x="304447" y="822972"/>
          <a:ext cx="2740027" cy="173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For replication of production environment Docker was implemented. 3 different containers where used.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55407" y="873932"/>
        <a:ext cx="2638107" cy="1637997"/>
      </dsp:txXfrm>
    </dsp:sp>
    <dsp:sp modelId="{378580F8-0822-4546-9923-03E252879196}">
      <dsp:nvSpPr>
        <dsp:cNvPr id="0" name=""/>
        <dsp:cNvSpPr/>
      </dsp:nvSpPr>
      <dsp:spPr>
        <a:xfrm>
          <a:off x="3348922" y="533747"/>
          <a:ext cx="2740027" cy="173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CFE97-8F75-455C-A8BF-45DED7CE96A3}">
      <dsp:nvSpPr>
        <dsp:cNvPr id="0" name=""/>
        <dsp:cNvSpPr/>
      </dsp:nvSpPr>
      <dsp:spPr>
        <a:xfrm>
          <a:off x="3653369" y="822972"/>
          <a:ext cx="2740027" cy="173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Airflow was used for pipeline orchestration.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704329" y="873932"/>
        <a:ext cx="2638107" cy="1637997"/>
      </dsp:txXfrm>
    </dsp:sp>
    <dsp:sp modelId="{29558931-1AAE-4681-A74A-DD8813146079}">
      <dsp:nvSpPr>
        <dsp:cNvPr id="0" name=""/>
        <dsp:cNvSpPr/>
      </dsp:nvSpPr>
      <dsp:spPr>
        <a:xfrm>
          <a:off x="6697844" y="533747"/>
          <a:ext cx="2740027" cy="17399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D95289-0B1D-4E9B-9493-DFDDF7B2092A}">
      <dsp:nvSpPr>
        <dsp:cNvPr id="0" name=""/>
        <dsp:cNvSpPr/>
      </dsp:nvSpPr>
      <dsp:spPr>
        <a:xfrm>
          <a:off x="7002291" y="822972"/>
          <a:ext cx="2740027" cy="1739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Dbt was used for model testing and dveloping a semantic layer.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7053251" y="873932"/>
        <a:ext cx="2638107" cy="163799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46C7EB-69B4-4135-897F-97520DB1B873}">
      <dsp:nvSpPr>
        <dsp:cNvPr id="0" name=""/>
        <dsp:cNvSpPr/>
      </dsp:nvSpPr>
      <dsp:spPr>
        <a:xfrm>
          <a:off x="1189" y="2683"/>
          <a:ext cx="4174260" cy="26506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969EDD-397A-424D-94C9-4418DEF0869F}">
      <dsp:nvSpPr>
        <dsp:cNvPr id="0" name=""/>
        <dsp:cNvSpPr/>
      </dsp:nvSpPr>
      <dsp:spPr>
        <a:xfrm>
          <a:off x="464995" y="443299"/>
          <a:ext cx="4174260" cy="26506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We developed a case study report which is attached to the documents in pdf format. </a:t>
          </a:r>
          <a:endParaRPr lang="en-US" sz="3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42630" y="520934"/>
        <a:ext cx="4018990" cy="2495385"/>
      </dsp:txXfrm>
    </dsp:sp>
    <dsp:sp modelId="{F649671D-A909-49DD-8D2D-0682990974A7}">
      <dsp:nvSpPr>
        <dsp:cNvPr id="0" name=""/>
        <dsp:cNvSpPr/>
      </dsp:nvSpPr>
      <dsp:spPr>
        <a:xfrm>
          <a:off x="5103062" y="2683"/>
          <a:ext cx="4174260" cy="26506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8F9A58-0CD4-4DF1-AF73-BC2A9C7CCF28}">
      <dsp:nvSpPr>
        <dsp:cNvPr id="0" name=""/>
        <dsp:cNvSpPr/>
      </dsp:nvSpPr>
      <dsp:spPr>
        <a:xfrm>
          <a:off x="5566869" y="443299"/>
          <a:ext cx="4174260" cy="265065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3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 this case report a pricing analysis and pricing change and expermentation is proposed.</a:t>
          </a:r>
          <a:endParaRPr lang="en-US" sz="3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4504" y="520934"/>
        <a:ext cx="4018990" cy="24953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B62016-7DFB-45C2-BFBB-74160715A59B}">
      <dsp:nvSpPr>
        <dsp:cNvPr id="0" name=""/>
        <dsp:cNvSpPr/>
      </dsp:nvSpPr>
      <dsp:spPr>
        <a:xfrm>
          <a:off x="0" y="99875"/>
          <a:ext cx="9751142" cy="11148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PRODUCT: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Diversify the revenue and profit generation over different products to </a:t>
          </a: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mitigate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the supply chain risks.</a:t>
          </a:r>
          <a:endParaRPr lang="en-US" sz="2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4423" y="154298"/>
        <a:ext cx="9642296" cy="1006017"/>
      </dsp:txXfrm>
    </dsp:sp>
    <dsp:sp modelId="{0261E46D-02F9-4B21-813C-2EF08FA96206}">
      <dsp:nvSpPr>
        <dsp:cNvPr id="0" name=""/>
        <dsp:cNvSpPr/>
      </dsp:nvSpPr>
      <dsp:spPr>
        <a:xfrm>
          <a:off x="0" y="1275219"/>
          <a:ext cx="9751142" cy="11148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PRICING: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Experiment with pricing to develope better margins for different products to make greater profit.</a:t>
          </a:r>
          <a:endParaRPr lang="en-US" sz="2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4423" y="1329642"/>
        <a:ext cx="9642296" cy="1006017"/>
      </dsp:txXfrm>
    </dsp:sp>
    <dsp:sp modelId="{B6F6DB0E-BED0-4567-A318-42891C83F8CE}">
      <dsp:nvSpPr>
        <dsp:cNvPr id="0" name=""/>
        <dsp:cNvSpPr/>
      </dsp:nvSpPr>
      <dsp:spPr>
        <a:xfrm>
          <a:off x="0" y="2450563"/>
          <a:ext cx="9751142" cy="11148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SCALING: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Get store operating cost data and analyze if it would be profitable to open more stores at Airport locations. Open more shops in Ciudad de Mexico.</a:t>
          </a:r>
          <a:endParaRPr lang="en-US" sz="2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4423" y="2504986"/>
        <a:ext cx="9642296" cy="1006017"/>
      </dsp:txXfrm>
    </dsp:sp>
    <dsp:sp modelId="{EC078EB3-DE8F-40AF-BF94-3CC52903EBF9}">
      <dsp:nvSpPr>
        <dsp:cNvPr id="0" name=""/>
        <dsp:cNvSpPr/>
      </dsp:nvSpPr>
      <dsp:spPr>
        <a:xfrm>
          <a:off x="0" y="3625906"/>
          <a:ext cx="9751142" cy="11148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lt-LT" sz="2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INVENTORY: 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Greatest inventory risks are at </a:t>
          </a:r>
          <a:r>
            <a:rPr lang="en-US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December </a:t>
          </a:r>
          <a:r>
            <a:rPr lang="lt-LT" sz="2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and April, check inventory before those months and stock up if needed. </a:t>
          </a:r>
          <a:r>
            <a:rPr lang="lt-LT" sz="2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up on Colorbuds and Action figures.</a:t>
          </a:r>
          <a:endParaRPr lang="en-US" sz="2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4423" y="3680329"/>
        <a:ext cx="9642296" cy="1006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876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72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349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67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6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7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00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624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04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221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215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5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17D4BA3-ACA7-4BED-BE4B-1152A6DDCF1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AE49D77-0080-439E-8D00-ACC2D73A5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5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E07C2-28CC-A451-3EA1-15F95DAA07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5573" y="453028"/>
            <a:ext cx="10992465" cy="2616199"/>
          </a:xfrm>
        </p:spPr>
        <p:txBody>
          <a:bodyPr>
            <a:normAutofit/>
          </a:bodyPr>
          <a:lstStyle/>
          <a:p>
            <a:r>
              <a:rPr lang="lt-L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TOYS SALES ANALYSIS</a:t>
            </a:r>
            <a:endParaRPr lang="en-US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38961F-1C3F-4206-D6D7-A44FAA9D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59742" y="3429000"/>
            <a:ext cx="7472516" cy="1579640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data pipeline project</a:t>
            </a:r>
            <a:endParaRPr lang="lt-LT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Benas Baranovskis</a:t>
            </a:r>
          </a:p>
          <a:p>
            <a:pPr algn="ctr"/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336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71B92-C785-99FC-3CC4-5867EEE7B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007" y="1338519"/>
            <a:ext cx="3704303" cy="315912"/>
          </a:xfrm>
        </p:spPr>
        <p:txBody>
          <a:bodyPr>
            <a:noAutofit/>
          </a:bodyPr>
          <a:lstStyle/>
          <a:p>
            <a:r>
              <a:rPr lang="lt-LT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0D0D7-ACFE-A332-FCCA-A436CBB5D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358" y="2075477"/>
            <a:ext cx="10960510" cy="3690272"/>
          </a:xfrm>
        </p:spPr>
        <p:txBody>
          <a:bodyPr>
            <a:normAutofit lnSpcReduction="10000"/>
          </a:bodyPr>
          <a:lstStyle/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model: 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toys is a toys retail company in Mexico, which is operating stores in different cities and locations and it sells different toy products.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data: 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tables. The sales table has around 829k rows and stores past sale data from January 2022 to September 2023.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GOAL: To understand what business decisions they could derive from their (past) data, which might convert to more revenue and profit in the future. </a:t>
            </a:r>
          </a:p>
          <a:p>
            <a:r>
              <a:rPr lang="lt-L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goal: To create a structure for data automatization process, so that the results could be delivered more efficiently and more sustainably.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811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EAB73-C07F-28DA-4F40-D8D8992A9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819" y="554932"/>
            <a:ext cx="9379974" cy="460785"/>
          </a:xfrm>
        </p:spPr>
        <p:txBody>
          <a:bodyPr>
            <a:normAutofit fontScale="90000"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PIPELINE AND RESULT DELIVERING PROCESS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8A8CCA-EA7B-CCF8-701F-8529F8117D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1617144"/>
              </p:ext>
            </p:extLst>
          </p:nvPr>
        </p:nvGraphicFramePr>
        <p:xfrm>
          <a:off x="919496" y="1659461"/>
          <a:ext cx="10898878" cy="4038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B587043-4790-AAFC-393C-3466D288A08D}"/>
              </a:ext>
            </a:extLst>
          </p:cNvPr>
          <p:cNvSpPr txBox="1"/>
          <p:nvPr/>
        </p:nvSpPr>
        <p:spPr>
          <a:xfrm>
            <a:off x="5624052" y="5230761"/>
            <a:ext cx="1002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525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AC84E-E9DD-664E-0F8B-9F44A03D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683" y="280283"/>
            <a:ext cx="7981336" cy="315912"/>
          </a:xfrm>
        </p:spPr>
        <p:txBody>
          <a:bodyPr>
            <a:normAutofit fontScale="90000"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 – From star schema to one big table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5C382CF-4216-625E-5B68-E282108EF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5115" y="756891"/>
            <a:ext cx="4490885" cy="4883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770F70-5D01-AE42-8CAE-014FDF216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063" y="1329199"/>
            <a:ext cx="3524250" cy="3924300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FDCA931-D0EC-722B-F7C3-BE0BB69839BF}"/>
              </a:ext>
            </a:extLst>
          </p:cNvPr>
          <p:cNvCxnSpPr>
            <a:cxnSpLocks/>
          </p:cNvCxnSpPr>
          <p:nvPr/>
        </p:nvCxnSpPr>
        <p:spPr>
          <a:xfrm>
            <a:off x="6096000" y="3446208"/>
            <a:ext cx="109906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8074993-7092-ACB7-C7A2-5B1697F72063}"/>
              </a:ext>
            </a:extLst>
          </p:cNvPr>
          <p:cNvSpPr txBox="1"/>
          <p:nvPr/>
        </p:nvSpPr>
        <p:spPr>
          <a:xfrm>
            <a:off x="2084439" y="5657671"/>
            <a:ext cx="96356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Star schema was ingested, which was big and inefficient. Layered with Dbt and created an OBT model with automatic metric counting. 4 more OBT models where created in marts layer.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13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76B5D-23FD-4797-BE1B-E3373C124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706" y="685800"/>
            <a:ext cx="9742318" cy="1752599"/>
          </a:xfrm>
        </p:spPr>
        <p:txBody>
          <a:bodyPr>
            <a:normAutofit/>
          </a:bodyPr>
          <a:lstStyle/>
          <a:p>
            <a:r>
              <a:rPr lang="lt-LT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TECHNICAL NUANCES</a:t>
            </a:r>
            <a:endParaRPr 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2D05405-0192-4BB8-51F6-31690243E2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7534417"/>
              </p:ext>
            </p:extLst>
          </p:nvPr>
        </p:nvGraphicFramePr>
        <p:xfrm>
          <a:off x="1760705" y="2694562"/>
          <a:ext cx="9742319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554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E9D059B6-ADD8-488A-B346-63289E90D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30" name="Freeform 6">
              <a:extLst>
                <a:ext uri="{FF2B5EF4-FFF2-40B4-BE49-F238E27FC236}">
                  <a16:creationId xmlns:a16="http://schemas.microsoft.com/office/drawing/2014/main" id="{F69B42B4-BC82-4495-A6F9-A28167B56A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7">
              <a:extLst>
                <a:ext uri="{FF2B5EF4-FFF2-40B4-BE49-F238E27FC236}">
                  <a16:creationId xmlns:a16="http://schemas.microsoft.com/office/drawing/2014/main" id="{83CC168C-2AD4-4FFB-9F25-420ED6514C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9">
              <a:extLst>
                <a:ext uri="{FF2B5EF4-FFF2-40B4-BE49-F238E27FC236}">
                  <a16:creationId xmlns:a16="http://schemas.microsoft.com/office/drawing/2014/main" id="{6C9F369A-6158-4AE8-BA04-138A9DFFA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10">
              <a:extLst>
                <a:ext uri="{FF2B5EF4-FFF2-40B4-BE49-F238E27FC236}">
                  <a16:creationId xmlns:a16="http://schemas.microsoft.com/office/drawing/2014/main" id="{FC7B1DF4-AD98-42A8-820F-667A3DCC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1C58B74-3656-4FD5-AC47-EE3A59EBB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8B349A01-D803-4A18-B608-47BFCED43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A5CDD55-8CD1-E850-41F2-691D9AB0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0" y="924232"/>
            <a:ext cx="8174971" cy="328586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6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</p:spTree>
    <p:extLst>
      <p:ext uri="{BB962C8B-B14F-4D97-AF65-F5344CB8AC3E}">
        <p14:creationId xmlns:p14="http://schemas.microsoft.com/office/powerpoint/2010/main" val="4017364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F084-A559-B151-8C12-F385AB55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91" y="235048"/>
            <a:ext cx="10515600" cy="315911"/>
          </a:xfrm>
        </p:spPr>
        <p:txBody>
          <a:bodyPr>
            <a:noAutofit/>
          </a:bodyPr>
          <a:lstStyle/>
          <a:p>
            <a:r>
              <a:rPr lang="lt-LT" sz="3200">
                <a:latin typeface="Times New Roman" panose="02020603050405020304" pitchFamily="18" charset="0"/>
                <a:cs typeface="Times New Roman" panose="02020603050405020304" pitchFamily="18" charset="0"/>
              </a:rPr>
              <a:t>KF 1– REVENUE TRENDS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4D2B8AC-9A69-77B7-90E2-511B345FD0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1757" y="699629"/>
            <a:ext cx="7868657" cy="44163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C44425-AF65-CB32-3258-FCA679852915}"/>
              </a:ext>
            </a:extLst>
          </p:cNvPr>
          <p:cNvSpPr txBox="1"/>
          <p:nvPr/>
        </p:nvSpPr>
        <p:spPr>
          <a:xfrm>
            <a:off x="1993099" y="5264667"/>
            <a:ext cx="890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>
                <a:latin typeface="Times New Roman" panose="02020603050405020304" pitchFamily="18" charset="0"/>
                <a:cs typeface="Times New Roman" panose="02020603050405020304" pitchFamily="18" charset="0"/>
              </a:rPr>
              <a:t>A spike of revenue and profit during December can be seen. This is due to Christmas holiday season. In April its Día del Niño (Children‘s day) in Mexico.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2023 consistently stronger than 2022 </a:t>
            </a:r>
            <a:r>
              <a:rPr lang="lt-LT" sz="200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growth trend confirmed</a:t>
            </a:r>
            <a:r>
              <a:rPr lang="lt-LT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Profit margin stable at ~25% despite revenue fluctuations</a:t>
            </a:r>
            <a:r>
              <a:rPr lang="lt-LT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lt-L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958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ECC74-0251-0BBC-C16E-7013BC8D6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6903" y="114402"/>
            <a:ext cx="6499334" cy="49028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2 – PRODUCT PERFORMANCE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6752DA-795F-FFF4-B175-145E1E8483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843" y="604683"/>
            <a:ext cx="7530313" cy="4463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1C1483-7406-C0DA-54D9-15AE5052FDC9}"/>
              </a:ext>
            </a:extLst>
          </p:cNvPr>
          <p:cNvSpPr txBox="1"/>
          <p:nvPr/>
        </p:nvSpPr>
        <p:spPr>
          <a:xfrm>
            <a:off x="2250744" y="5068529"/>
            <a:ext cx="84369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Colorbuds (electronics) are making the most profit during the period. (Cost 6.99, Retail Price 14.99)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products might need more marketing or discounts. Revenue generation must be diversified to lower the supply chain risks.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 No marketing performance data.</a:t>
            </a:r>
          </a:p>
        </p:txBody>
      </p:sp>
    </p:spTree>
    <p:extLst>
      <p:ext uri="{BB962C8B-B14F-4D97-AF65-F5344CB8AC3E}">
        <p14:creationId xmlns:p14="http://schemas.microsoft.com/office/powerpoint/2010/main" val="2920730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2F9A0-0D10-E2C6-B004-A038DFACB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7503" y="230085"/>
            <a:ext cx="7007942" cy="490281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3 – STORE LOCATION INSIGHTS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74AB6B-8363-C919-54F5-9821F3FD6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805" y="720366"/>
            <a:ext cx="5979317" cy="42735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8678E9-2BC3-52EB-8C49-B808C1C9C199}"/>
              </a:ext>
            </a:extLst>
          </p:cNvPr>
          <p:cNvSpPr txBox="1"/>
          <p:nvPr/>
        </p:nvSpPr>
        <p:spPr>
          <a:xfrm>
            <a:off x="7759954" y="720366"/>
            <a:ext cx="372412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Downtown location generates the most revenue and profit.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Downtown 29 stores in Airport 3 stores.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Airport location has a better performance on average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</a:t>
            </a: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 No store operating costs data.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5CE84C-D7D3-17D3-8967-30941A31E6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805" y="4993927"/>
            <a:ext cx="4054191" cy="131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041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FA80-223A-274F-16C8-C1B071033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077" y="176386"/>
            <a:ext cx="10380406" cy="389348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4 – PERFORMANCE BY CITY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6DDFDA-E2CD-F142-C3AE-99E7A4ED82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866" y="609601"/>
            <a:ext cx="7341554" cy="4435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FB5B91-A053-334A-5C37-7D3817B52B91}"/>
              </a:ext>
            </a:extLst>
          </p:cNvPr>
          <p:cNvSpPr txBox="1"/>
          <p:nvPr/>
        </p:nvSpPr>
        <p:spPr>
          <a:xfrm>
            <a:off x="2775155" y="5132439"/>
            <a:ext cx="721226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Ciudad de Mexico (4 stores) the capital city generates the most revenue and profit. More population means more profit.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stores in the city means more revenue from the city. Altough population matters too.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408787-6A80-158E-C932-1E7B118C3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356" y="3421503"/>
            <a:ext cx="2850127" cy="162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76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AE538-084A-F428-4334-174A57A02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568" y="181703"/>
            <a:ext cx="10515600" cy="450952"/>
          </a:xfrm>
        </p:spPr>
        <p:txBody>
          <a:bodyPr>
            <a:no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5 – INVENTORY RISK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02E19F-88EF-0A92-712A-7E4CCBA101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607" y="706397"/>
            <a:ext cx="6549549" cy="445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101E49-0C0B-3511-1ED5-3D2F882E31E6}"/>
              </a:ext>
            </a:extLst>
          </p:cNvPr>
          <p:cNvSpPr txBox="1"/>
          <p:nvPr/>
        </p:nvSpPr>
        <p:spPr>
          <a:xfrm>
            <a:off x="2397607" y="5309419"/>
            <a:ext cx="654954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Products at inventory risk: Action figure and Colorbuds.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are sold the best.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 it is better to stock up on them before holiday season.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103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8A4A409-9242-444A-AC1F-809866828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ABF65108-5AB6-40BD-BCAF-526D8E309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C77C904B-BC3A-472F-BB70-8750D41E4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910D569-2CFD-4010-B886-2F31BB8EC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5A816932-FBAD-46C0-AA92-336589A5A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D914BDD-E5E0-4DFB-8072-5B498F94A6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ED9E392E-46C2-4B84-A121-9B2BC452F0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953F47-C0A8-1E90-291C-4A8CC2820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2" y="685800"/>
            <a:ext cx="2812385" cy="1752599"/>
          </a:xfrm>
        </p:spPr>
        <p:txBody>
          <a:bodyPr>
            <a:normAutofit/>
          </a:bodyPr>
          <a:lstStyle/>
          <a:p>
            <a:r>
              <a:rPr lang="lt-LT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 6 – YOY MONTHLY GROWTH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E14195-0B90-C09C-5A35-A29276187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2666999"/>
            <a:ext cx="2812387" cy="3124201"/>
          </a:xfrm>
        </p:spPr>
        <p:txBody>
          <a:bodyPr>
            <a:normAutofit/>
          </a:bodyPr>
          <a:lstStyle/>
          <a:p>
            <a:r>
              <a:rPr lang="lt-LT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March and July had the greatest YoY monthly growth.</a:t>
            </a:r>
          </a:p>
          <a:p>
            <a:r>
              <a:rPr lang="lt-LT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Questions: Why July and March had greatest monthly YoY? Which products where the dr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lt-LT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 of this? In which locations those sales wehere made? </a:t>
            </a:r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21ECAAB0-702B-4C08-B30F-0AFAC3479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1162" y="648931"/>
            <a:ext cx="6881862" cy="5231964"/>
          </a:xfrm>
          <a:prstGeom prst="roundRect">
            <a:avLst>
              <a:gd name="adj" fmla="val 4834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89560B-6950-FD0A-9B19-9C4C0FCC9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202" y="1257977"/>
            <a:ext cx="6237359" cy="405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85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8A4A409-9242-444A-AC1F-809866828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ABF65108-5AB6-40BD-BCAF-526D8E309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C77C904B-BC3A-472F-BB70-8750D41E4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910D569-2CFD-4010-B886-2F31BB8EC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5A816932-FBAD-46C0-AA92-336589A5A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D914BDD-E5E0-4DFB-8072-5B498F94A6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ED9E392E-46C2-4B84-A121-9B2BC452F0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75E868-E250-7A31-B946-6E181407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2" y="685800"/>
            <a:ext cx="2812385" cy="17525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lt-LT" sz="3000">
                <a:latin typeface="Times New Roman" panose="02020603050405020304" pitchFamily="18" charset="0"/>
                <a:cs typeface="Times New Roman" panose="02020603050405020304" pitchFamily="18" charset="0"/>
              </a:rPr>
              <a:t>KF 7.1 – PRODUCT PROTFOLIO MATRIX</a:t>
            </a:r>
            <a:endParaRPr lang="en-US" sz="3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7C9769-B99A-DFCC-267D-06B874F86F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2666999"/>
            <a:ext cx="2812387" cy="3124201"/>
          </a:xfrm>
        </p:spPr>
        <p:txBody>
          <a:bodyPr>
            <a:normAutofit/>
          </a:bodyPr>
          <a:lstStyle/>
          <a:p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JENGA has a 70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profit margin.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COLORBUDS has 53% profit margin.</a:t>
            </a:r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21ECAAB0-702B-4C08-B30F-0AFAC3479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1162" y="648931"/>
            <a:ext cx="6881862" cy="5231964"/>
          </a:xfrm>
          <a:prstGeom prst="roundRect">
            <a:avLst>
              <a:gd name="adj" fmla="val 4834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5A1CA2-0D34-EA21-F603-CE752F0BF5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250" y="1671689"/>
            <a:ext cx="6390221" cy="3514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42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8A4A409-9242-444A-AC1F-809866828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ABF65108-5AB6-40BD-BCAF-526D8E309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C77C904B-BC3A-472F-BB70-8750D41E4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910D569-2CFD-4010-B886-2F31BB8EC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5A816932-FBAD-46C0-AA92-336589A5A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D914BDD-E5E0-4DFB-8072-5B498F94A6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ED9E392E-46C2-4B84-A121-9B2BC452F0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398D324-A58D-738E-DB38-720DCBC4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2" y="685800"/>
            <a:ext cx="2812385" cy="17525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lt-LT" sz="3000">
                <a:latin typeface="Times New Roman" panose="02020603050405020304" pitchFamily="18" charset="0"/>
                <a:cs typeface="Times New Roman" panose="02020603050405020304" pitchFamily="18" charset="0"/>
              </a:rPr>
              <a:t>KF 7.2 – PRODUCT PROTFOLIO MATRIX</a:t>
            </a:r>
            <a:endParaRPr lang="en-US" sz="30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9D77728-A7F2-5B53-590D-74EA317D5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2666999"/>
            <a:ext cx="2812387" cy="3124201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Lego Bricks, magic sand,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rubik’s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cube has a low profit margin, but generating a lot of profit.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Seeing this trend we developed a case study.</a:t>
            </a:r>
          </a:p>
          <a:p>
            <a:endParaRPr lang="en-US" sz="1800" dirty="0"/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21ECAAB0-702B-4C08-B30F-0AFAC3479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1162" y="648931"/>
            <a:ext cx="6881862" cy="5231964"/>
          </a:xfrm>
          <a:prstGeom prst="roundRect">
            <a:avLst>
              <a:gd name="adj" fmla="val 4834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F25233-5014-1595-8782-472C445F2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3112" y="1750558"/>
            <a:ext cx="6583981" cy="319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855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B963-3E82-CAC9-0079-135287376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706" y="685800"/>
            <a:ext cx="9742318" cy="175259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PRICING STRATEGY PROPOSAL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266D88E-B08C-E978-666F-7EA8FF9360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885361"/>
              </p:ext>
            </p:extLst>
          </p:nvPr>
        </p:nvGraphicFramePr>
        <p:xfrm>
          <a:off x="1760706" y="2222289"/>
          <a:ext cx="9742319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285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8870-91BC-642F-054D-E37470C1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554" y="394622"/>
            <a:ext cx="10409903" cy="490281"/>
          </a:xfrm>
        </p:spPr>
        <p:txBody>
          <a:bodyPr>
            <a:noAutofit/>
          </a:bodyPr>
          <a:lstStyle/>
          <a:p>
            <a:r>
              <a:rPr lang="lt-LT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RECOMMENDED BUSINESS DECISIONS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168513-6741-0E48-BCB8-B7CBFA3896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7416793"/>
              </p:ext>
            </p:extLst>
          </p:nvPr>
        </p:nvGraphicFramePr>
        <p:xfrm>
          <a:off x="1624781" y="1155699"/>
          <a:ext cx="9751142" cy="48406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6172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D42FC-6FBF-839E-CE22-42AA1E1E3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ANALYSIS POSSIBILIETES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6A841-BA96-D41A-61D3-F7C13B1AA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marketing performance of Lego bricks and other products.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operation cost data to understand how to make more profit.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the main competitors in different locations.</a:t>
            </a: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Think about E-commerce capabilities.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Questions: Why July and March had greatest monthly YoY? Which products where the dr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 of this? In which locations those sales wehere made?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8082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4C41CF4-4A13-4AA9-9300-CB7A2E37C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B5EBF3-209F-1A11-10F7-1DBB4F36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609" y="764372"/>
            <a:ext cx="3173688" cy="5216013"/>
          </a:xfrm>
        </p:spPr>
        <p:txBody>
          <a:bodyPr>
            <a:normAutofit/>
          </a:bodyPr>
          <a:lstStyle/>
          <a:p>
            <a:pPr algn="l"/>
            <a:r>
              <a:rPr lang="lt-LT" sz="340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– WHAT HAVE I LEARNT?</a:t>
            </a:r>
            <a:endParaRPr lang="en-US" sz="3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A77B115-9FF3-46AE-AE08-826DEB9A6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27197" y="1923563"/>
            <a:ext cx="0" cy="301752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9A80-D358-4D35-834A-CD4699D3D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0138" y="764372"/>
            <a:ext cx="7086600" cy="5216013"/>
          </a:xfrm>
        </p:spPr>
        <p:txBody>
          <a:bodyPr anchor="ctr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have learnt to ingest data with Python.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have used Dbt to build staging, intermediate, mart layers and turned inefficient star schema into one big table with pre-calculated metrics.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Produced a Power BI dashboard, excel report, pptx/pdf report with business decision suggestions. 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Owned all the process from ingestion to deliverables. 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implementation for pipeline job orchestration.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 implemented.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understanding of data warehousing (Imon to Kimball to OBT).</a:t>
            </a: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conduct an end-to-end data pipeline.</a:t>
            </a:r>
          </a:p>
          <a:p>
            <a:pPr marL="0" indent="0">
              <a:lnSpc>
                <a:spcPct val="90000"/>
              </a:lnSpc>
              <a:buNone/>
            </a:pPr>
            <a:endParaRPr lang="lt-L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</a:pPr>
            <a:r>
              <a:rPr lang="lt-L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COULD BE IMPROVED:</a:t>
            </a:r>
          </a:p>
          <a:p>
            <a:pPr lvl="1">
              <a:lnSpc>
                <a:spcPct val="90000"/>
              </a:lnSpc>
            </a:pP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Airbyte to automate ingestion.</a:t>
            </a:r>
          </a:p>
          <a:p>
            <a:pPr lvl="1">
              <a:lnSpc>
                <a:spcPct val="90000"/>
              </a:lnSpc>
            </a:pPr>
            <a:r>
              <a:rPr lang="lt-LT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fake sales data created and ingested. </a:t>
            </a:r>
          </a:p>
          <a:p>
            <a:pPr marL="0" indent="0">
              <a:lnSpc>
                <a:spcPct val="9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7825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03BF673-8C68-4092-BF1B-53C57EFEC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47">
            <a:extLst>
              <a:ext uri="{FF2B5EF4-FFF2-40B4-BE49-F238E27FC236}">
                <a16:creationId xmlns:a16="http://schemas.microsoft.com/office/drawing/2014/main" id="{08751D95-C333-4DEB-90B4-1EAC9A91D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 flipH="1">
            <a:off x="4062127" y="-15832"/>
            <a:ext cx="8129873" cy="6889518"/>
          </a:xfrm>
          <a:custGeom>
            <a:avLst/>
            <a:gdLst>
              <a:gd name="connsiteX0" fmla="*/ 0 w 8129873"/>
              <a:gd name="connsiteY0" fmla="*/ 0 h 6889518"/>
              <a:gd name="connsiteX1" fmla="*/ 0 w 8129873"/>
              <a:gd name="connsiteY1" fmla="*/ 6889518 h 6889518"/>
              <a:gd name="connsiteX2" fmla="*/ 6207942 w 8129873"/>
              <a:gd name="connsiteY2" fmla="*/ 6882299 h 6889518"/>
              <a:gd name="connsiteX3" fmla="*/ 8129873 w 8129873"/>
              <a:gd name="connsiteY3" fmla="*/ 5349831 h 6889518"/>
              <a:gd name="connsiteX4" fmla="*/ 7291674 w 8129873"/>
              <a:gd name="connsiteY4" fmla="*/ 7365 h 688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9873" h="6889518">
                <a:moveTo>
                  <a:pt x="0" y="0"/>
                </a:moveTo>
                <a:lnTo>
                  <a:pt x="0" y="6889518"/>
                </a:lnTo>
                <a:lnTo>
                  <a:pt x="6207942" y="6882299"/>
                </a:lnTo>
                <a:lnTo>
                  <a:pt x="8129873" y="5349831"/>
                </a:lnTo>
                <a:lnTo>
                  <a:pt x="7291674" y="7365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A7535-3851-431E-BDA9-B4F6C1201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413893" y="0"/>
            <a:ext cx="2436813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2F07680B-461A-4AFC-808F-93216679AA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C864A04-25C0-4A5F-B6D4-F3859450A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5F596D75-78C8-47A8-9225-7C64A6674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28D8641-4FEB-4878-B029-6CC4922EB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BB339737-0E88-4165-A752-9E204068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633AF255-B0DD-4D23-A3F2-DDB221BB1B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716F9D-3B21-DB64-C8D9-A5EF3DBC7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025" y="1072609"/>
            <a:ext cx="3041557" cy="4522647"/>
          </a:xfrm>
          <a:effectLst/>
        </p:spPr>
        <p:txBody>
          <a:bodyPr anchor="ctr">
            <a:normAutofit/>
          </a:bodyPr>
          <a:lstStyle/>
          <a:p>
            <a:pPr algn="l"/>
            <a:r>
              <a:rPr lang="lt-LT" sz="3200">
                <a:latin typeface="Times New Roman" panose="02020603050405020304" pitchFamily="18" charset="0"/>
                <a:cs typeface="Times New Roman" panose="02020603050405020304" pitchFamily="18" charset="0"/>
              </a:rPr>
              <a:t>What I would have done differently?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BFFB2-0710-F90C-3560-681D209EB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9032" y="1072609"/>
            <a:ext cx="6630943" cy="5127224"/>
          </a:xfrm>
        </p:spPr>
        <p:txBody>
          <a:bodyPr anchor="ctr">
            <a:noAutofit/>
          </a:bodyPr>
          <a:lstStyle/>
          <a:p>
            <a:r>
              <a:rPr lang="lt-LT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 would spend more time at first to understand the business case. I would develop a proposal of solutions at first. </a:t>
            </a:r>
          </a:p>
          <a:p>
            <a:r>
              <a:rPr lang="lt-LT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 would find the business questions and business problems first and then develop the technical solutions for it. (Business question -&gt; Do we need a dashboard for it?) </a:t>
            </a:r>
          </a:p>
          <a:p>
            <a:r>
              <a:rPr lang="lt-LT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now I understand the data team flow. I would better understand the requirements and ask better questions about them.</a:t>
            </a:r>
            <a:endParaRPr 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5484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281</TotalTime>
  <Words>1011</Words>
  <Application>Microsoft Office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Century Gothic</vt:lpstr>
      <vt:lpstr>Corbel</vt:lpstr>
      <vt:lpstr>Times New Roman</vt:lpstr>
      <vt:lpstr>Parallax</vt:lpstr>
      <vt:lpstr>MAVEN TOYS SALES ANALYSIS</vt:lpstr>
      <vt:lpstr>PROJECT OVERVIEW</vt:lpstr>
      <vt:lpstr>DATA PIPELINE AND RESULT DELIVERING PROCESS</vt:lpstr>
      <vt:lpstr>DATA MODEL – From star schema to one big table</vt:lpstr>
      <vt:lpstr>OTHER TECHNICAL NUANCES</vt:lpstr>
      <vt:lpstr>KEY FINDINGS</vt:lpstr>
      <vt:lpstr>KF 1– REVENUE TRENDS</vt:lpstr>
      <vt:lpstr>KF 2 – PRODUCT PERFORMANCE</vt:lpstr>
      <vt:lpstr>KF 3 – STORE LOCATION INSIGHTS</vt:lpstr>
      <vt:lpstr>KF 4 – PERFORMANCE BY CITY</vt:lpstr>
      <vt:lpstr>KF 5 – INVENTORY RISK</vt:lpstr>
      <vt:lpstr>KF 6 – YOY MONTHLY GROWTH</vt:lpstr>
      <vt:lpstr>KF 7.1 – PRODUCT PROTFOLIO MATRIX</vt:lpstr>
      <vt:lpstr>KF 7.2 – PRODUCT PROTFOLIO MATRIX</vt:lpstr>
      <vt:lpstr>CASE STUDY – PRICING STRATEGY PROPOSAL </vt:lpstr>
      <vt:lpstr>RECOMMENDED BUSINESS DECISIONS</vt:lpstr>
      <vt:lpstr>FURTHER ANALYSIS POSSIBILIETES</vt:lpstr>
      <vt:lpstr>CONCLUSION – WHAT HAVE I LEARNT?</vt:lpstr>
      <vt:lpstr>What I would have done differently?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Baranovskis</dc:creator>
  <cp:lastModifiedBy>Ben Baranovskis</cp:lastModifiedBy>
  <cp:revision>12</cp:revision>
  <dcterms:created xsi:type="dcterms:W3CDTF">2026-04-21T09:03:18Z</dcterms:created>
  <dcterms:modified xsi:type="dcterms:W3CDTF">2026-05-04T09:29:30Z</dcterms:modified>
</cp:coreProperties>
</file>