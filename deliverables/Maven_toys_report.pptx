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BBD783-1036-4B1A-B562-7326F927F1EE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9A574D-A7A7-46A0-A380-0147233E0833}">
      <dgm:prSet phldrT="[Text]" phldr="0"/>
      <dgm:spPr/>
      <dgm:t>
        <a:bodyPr/>
        <a:lstStyle/>
        <a:p>
          <a:r>
            <a:rPr lang="lt-LT" b="1" dirty="0"/>
            <a:t> Raw data</a:t>
          </a:r>
        </a:p>
        <a:p>
          <a:r>
            <a:rPr lang="lt-LT" dirty="0"/>
            <a:t>(CSV)</a:t>
          </a:r>
          <a:endParaRPr lang="en-US" dirty="0"/>
        </a:p>
      </dgm:t>
    </dgm:pt>
    <dgm:pt modelId="{9D16057E-55E8-4BB4-B42C-8C295DB25536}" type="parTrans" cxnId="{BEBF4AA2-1075-4934-9FA6-5409E1186100}">
      <dgm:prSet/>
      <dgm:spPr/>
      <dgm:t>
        <a:bodyPr/>
        <a:lstStyle/>
        <a:p>
          <a:endParaRPr lang="en-US"/>
        </a:p>
      </dgm:t>
    </dgm:pt>
    <dgm:pt modelId="{EA09AC1C-04CD-4F4B-A3BD-31B96DD89B24}" type="sibTrans" cxnId="{BEBF4AA2-1075-4934-9FA6-5409E1186100}">
      <dgm:prSet/>
      <dgm:spPr/>
      <dgm:t>
        <a:bodyPr/>
        <a:lstStyle/>
        <a:p>
          <a:endParaRPr lang="en-US"/>
        </a:p>
      </dgm:t>
    </dgm:pt>
    <dgm:pt modelId="{E6683A02-E340-4101-BAC8-0B80ABD85BB4}">
      <dgm:prSet phldrT="[Text]" phldr="0"/>
      <dgm:spPr/>
      <dgm:t>
        <a:bodyPr/>
        <a:lstStyle/>
        <a:p>
          <a:r>
            <a:rPr lang="lt-LT" b="1" dirty="0"/>
            <a:t>INGESTION AND TRANSFORMATION</a:t>
          </a:r>
        </a:p>
        <a:p>
          <a:r>
            <a:rPr lang="lt-LT" dirty="0"/>
            <a:t> (Python|Pandas|SQLAlchemy)</a:t>
          </a:r>
          <a:endParaRPr lang="en-US" dirty="0"/>
        </a:p>
      </dgm:t>
    </dgm:pt>
    <dgm:pt modelId="{21ADE8A4-12FC-4A54-BDFB-BA97D41B788B}" type="parTrans" cxnId="{F591C74F-71B2-47AD-BC8F-73A10F281856}">
      <dgm:prSet/>
      <dgm:spPr/>
      <dgm:t>
        <a:bodyPr/>
        <a:lstStyle/>
        <a:p>
          <a:endParaRPr lang="en-US"/>
        </a:p>
      </dgm:t>
    </dgm:pt>
    <dgm:pt modelId="{AC5FFF4E-2B6C-44F7-A7B1-CFD7092BB7EB}" type="sibTrans" cxnId="{F591C74F-71B2-47AD-BC8F-73A10F281856}">
      <dgm:prSet/>
      <dgm:spPr/>
      <dgm:t>
        <a:bodyPr/>
        <a:lstStyle/>
        <a:p>
          <a:endParaRPr lang="en-US"/>
        </a:p>
      </dgm:t>
    </dgm:pt>
    <dgm:pt modelId="{F4AAD7D4-FE54-4123-8727-40F0BCD12EB9}">
      <dgm:prSet phldrT="[Text]" phldr="0"/>
      <dgm:spPr/>
      <dgm:t>
        <a:bodyPr/>
        <a:lstStyle/>
        <a:p>
          <a:r>
            <a:rPr lang="lt-LT" b="1" dirty="0"/>
            <a:t>STORAGE </a:t>
          </a:r>
        </a:p>
        <a:p>
          <a:r>
            <a:rPr lang="lt-LT" dirty="0"/>
            <a:t>(local PostgreSQL)</a:t>
          </a:r>
          <a:endParaRPr lang="en-US" dirty="0"/>
        </a:p>
      </dgm:t>
    </dgm:pt>
    <dgm:pt modelId="{D3849CC6-0E9C-4DF8-910D-81D56A440130}" type="parTrans" cxnId="{1D01980E-5C5E-4F82-8805-CAD823860527}">
      <dgm:prSet/>
      <dgm:spPr/>
      <dgm:t>
        <a:bodyPr/>
        <a:lstStyle/>
        <a:p>
          <a:endParaRPr lang="en-US"/>
        </a:p>
      </dgm:t>
    </dgm:pt>
    <dgm:pt modelId="{26F0349D-0B6F-4DE7-BA41-AA3632D2F06A}" type="sibTrans" cxnId="{1D01980E-5C5E-4F82-8805-CAD823860527}">
      <dgm:prSet/>
      <dgm:spPr/>
      <dgm:t>
        <a:bodyPr/>
        <a:lstStyle/>
        <a:p>
          <a:endParaRPr lang="en-US"/>
        </a:p>
      </dgm:t>
    </dgm:pt>
    <dgm:pt modelId="{D02073CB-F41C-499E-8A7F-9CA1F4829AEB}">
      <dgm:prSet phldrT="[Text]" phldr="0"/>
      <dgm:spPr/>
      <dgm:t>
        <a:bodyPr/>
        <a:lstStyle/>
        <a:p>
          <a:r>
            <a:rPr lang="lt-LT" b="1" dirty="0"/>
            <a:t>DATA MODELING, TESTING AND TRANSFORMATION</a:t>
          </a:r>
        </a:p>
        <a:p>
          <a:r>
            <a:rPr lang="lt-LT" dirty="0"/>
            <a:t>(Dbt)</a:t>
          </a:r>
          <a:endParaRPr lang="en-US" dirty="0"/>
        </a:p>
      </dgm:t>
    </dgm:pt>
    <dgm:pt modelId="{530614E8-D367-49E9-9711-0ACEE15A4F89}" type="parTrans" cxnId="{D4F28570-224F-41D3-B0C6-FB62B6FF512E}">
      <dgm:prSet/>
      <dgm:spPr/>
      <dgm:t>
        <a:bodyPr/>
        <a:lstStyle/>
        <a:p>
          <a:endParaRPr lang="en-US"/>
        </a:p>
      </dgm:t>
    </dgm:pt>
    <dgm:pt modelId="{B2914D71-ECFC-46B1-A017-536B2CE62E6A}" type="sibTrans" cxnId="{D4F28570-224F-41D3-B0C6-FB62B6FF512E}">
      <dgm:prSet/>
      <dgm:spPr/>
      <dgm:t>
        <a:bodyPr/>
        <a:lstStyle/>
        <a:p>
          <a:endParaRPr lang="en-US"/>
        </a:p>
      </dgm:t>
    </dgm:pt>
    <dgm:pt modelId="{2F1E6E90-3DDE-40E6-9632-8FC93156C2F0}">
      <dgm:prSet phldrT="[Text]" phldr="0"/>
      <dgm:spPr/>
      <dgm:t>
        <a:bodyPr/>
        <a:lstStyle/>
        <a:p>
          <a:r>
            <a:rPr lang="lt-LT" b="1" dirty="0"/>
            <a:t>DELIVERABLES</a:t>
          </a:r>
        </a:p>
        <a:p>
          <a:r>
            <a:rPr lang="lt-LT" dirty="0"/>
            <a:t>(PBI Dashboard, Excel Report, Pptx/pdf report)</a:t>
          </a:r>
        </a:p>
      </dgm:t>
    </dgm:pt>
    <dgm:pt modelId="{EF6D3AB8-3C2A-4717-ABAA-8564493185A7}" type="parTrans" cxnId="{75C587ED-4903-4052-BD7D-5A24D980F07E}">
      <dgm:prSet/>
      <dgm:spPr/>
      <dgm:t>
        <a:bodyPr/>
        <a:lstStyle/>
        <a:p>
          <a:endParaRPr lang="en-US"/>
        </a:p>
      </dgm:t>
    </dgm:pt>
    <dgm:pt modelId="{15C1C4F5-3028-41C6-BDCB-E69481084325}" type="sibTrans" cxnId="{75C587ED-4903-4052-BD7D-5A24D980F07E}">
      <dgm:prSet/>
      <dgm:spPr/>
      <dgm:t>
        <a:bodyPr/>
        <a:lstStyle/>
        <a:p>
          <a:endParaRPr lang="en-US"/>
        </a:p>
      </dgm:t>
    </dgm:pt>
    <dgm:pt modelId="{D07D6E28-571E-4489-8BA4-B7830438CD66}">
      <dgm:prSet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lt-LT" b="1" dirty="0"/>
            <a:t>VISUALIZATION</a:t>
          </a:r>
        </a:p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lt-LT" dirty="0"/>
            <a:t>(Power BI, Excel, Power point)</a:t>
          </a:r>
        </a:p>
        <a:p>
          <a:pPr marL="0" lvl="0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dirty="0"/>
        </a:p>
      </dgm:t>
    </dgm:pt>
    <dgm:pt modelId="{9ECA061D-629F-4B31-9535-4145BC4836B1}" type="parTrans" cxnId="{D4053C72-0D2A-4AC8-A9B9-7AB72AD6A00A}">
      <dgm:prSet/>
      <dgm:spPr/>
      <dgm:t>
        <a:bodyPr/>
        <a:lstStyle/>
        <a:p>
          <a:endParaRPr lang="en-US"/>
        </a:p>
      </dgm:t>
    </dgm:pt>
    <dgm:pt modelId="{E188368A-CB29-4447-BE2F-9037E9A1629A}" type="sibTrans" cxnId="{D4053C72-0D2A-4AC8-A9B9-7AB72AD6A00A}">
      <dgm:prSet/>
      <dgm:spPr/>
      <dgm:t>
        <a:bodyPr/>
        <a:lstStyle/>
        <a:p>
          <a:endParaRPr lang="en-US"/>
        </a:p>
      </dgm:t>
    </dgm:pt>
    <dgm:pt modelId="{2E00C400-6786-4272-B229-985348BFB3BB}" type="pres">
      <dgm:prSet presAssocID="{A9BBD783-1036-4B1A-B562-7326F927F1EE}" presName="diagram" presStyleCnt="0">
        <dgm:presLayoutVars>
          <dgm:dir/>
          <dgm:resizeHandles val="exact"/>
        </dgm:presLayoutVars>
      </dgm:prSet>
      <dgm:spPr/>
    </dgm:pt>
    <dgm:pt modelId="{9C95A114-B903-4E9B-8FBB-7C8F9BF63B8B}" type="pres">
      <dgm:prSet presAssocID="{339A574D-A7A7-46A0-A380-0147233E0833}" presName="node" presStyleLbl="node1" presStyleIdx="0" presStyleCnt="6">
        <dgm:presLayoutVars>
          <dgm:bulletEnabled val="1"/>
        </dgm:presLayoutVars>
      </dgm:prSet>
      <dgm:spPr/>
    </dgm:pt>
    <dgm:pt modelId="{96115914-0F8E-4A83-8AEF-29B4B69BB407}" type="pres">
      <dgm:prSet presAssocID="{EA09AC1C-04CD-4F4B-A3BD-31B96DD89B24}" presName="sibTrans" presStyleLbl="sibTrans2D1" presStyleIdx="0" presStyleCnt="5"/>
      <dgm:spPr/>
    </dgm:pt>
    <dgm:pt modelId="{F86040C0-A8E7-4AE8-8CF0-DE022EBCDE1E}" type="pres">
      <dgm:prSet presAssocID="{EA09AC1C-04CD-4F4B-A3BD-31B96DD89B24}" presName="connectorText" presStyleLbl="sibTrans2D1" presStyleIdx="0" presStyleCnt="5"/>
      <dgm:spPr/>
    </dgm:pt>
    <dgm:pt modelId="{825E9182-0BBE-4C9F-ABE5-CE7C7C9DCC88}" type="pres">
      <dgm:prSet presAssocID="{E6683A02-E340-4101-BAC8-0B80ABD85BB4}" presName="node" presStyleLbl="node1" presStyleIdx="1" presStyleCnt="6">
        <dgm:presLayoutVars>
          <dgm:bulletEnabled val="1"/>
        </dgm:presLayoutVars>
      </dgm:prSet>
      <dgm:spPr/>
    </dgm:pt>
    <dgm:pt modelId="{C5D61D54-2FE7-4A7F-A456-40F71086B02C}" type="pres">
      <dgm:prSet presAssocID="{AC5FFF4E-2B6C-44F7-A7B1-CFD7092BB7EB}" presName="sibTrans" presStyleLbl="sibTrans2D1" presStyleIdx="1" presStyleCnt="5"/>
      <dgm:spPr/>
    </dgm:pt>
    <dgm:pt modelId="{913BEC79-2644-4659-9F5C-69A596F72D6E}" type="pres">
      <dgm:prSet presAssocID="{AC5FFF4E-2B6C-44F7-A7B1-CFD7092BB7EB}" presName="connectorText" presStyleLbl="sibTrans2D1" presStyleIdx="1" presStyleCnt="5"/>
      <dgm:spPr/>
    </dgm:pt>
    <dgm:pt modelId="{3290F25D-4C73-4939-9BF3-F3F6EA59D269}" type="pres">
      <dgm:prSet presAssocID="{F4AAD7D4-FE54-4123-8727-40F0BCD12EB9}" presName="node" presStyleLbl="node1" presStyleIdx="2" presStyleCnt="6">
        <dgm:presLayoutVars>
          <dgm:bulletEnabled val="1"/>
        </dgm:presLayoutVars>
      </dgm:prSet>
      <dgm:spPr/>
    </dgm:pt>
    <dgm:pt modelId="{5C13826C-9BC5-4856-9688-EADECBEAC213}" type="pres">
      <dgm:prSet presAssocID="{26F0349D-0B6F-4DE7-BA41-AA3632D2F06A}" presName="sibTrans" presStyleLbl="sibTrans2D1" presStyleIdx="2" presStyleCnt="5"/>
      <dgm:spPr/>
    </dgm:pt>
    <dgm:pt modelId="{C85499DC-AABA-4A7E-AD20-E5BE851DB328}" type="pres">
      <dgm:prSet presAssocID="{26F0349D-0B6F-4DE7-BA41-AA3632D2F06A}" presName="connectorText" presStyleLbl="sibTrans2D1" presStyleIdx="2" presStyleCnt="5"/>
      <dgm:spPr/>
    </dgm:pt>
    <dgm:pt modelId="{65C3943E-E19A-410B-9D04-9A17BE750DA8}" type="pres">
      <dgm:prSet presAssocID="{D02073CB-F41C-499E-8A7F-9CA1F4829AEB}" presName="node" presStyleLbl="node1" presStyleIdx="3" presStyleCnt="6">
        <dgm:presLayoutVars>
          <dgm:bulletEnabled val="1"/>
        </dgm:presLayoutVars>
      </dgm:prSet>
      <dgm:spPr/>
    </dgm:pt>
    <dgm:pt modelId="{B59EE8BC-AE25-4373-8B58-CC4C876DDAF9}" type="pres">
      <dgm:prSet presAssocID="{B2914D71-ECFC-46B1-A017-536B2CE62E6A}" presName="sibTrans" presStyleLbl="sibTrans2D1" presStyleIdx="3" presStyleCnt="5"/>
      <dgm:spPr/>
    </dgm:pt>
    <dgm:pt modelId="{33AA6743-3B6A-4B94-A6AD-197986F73DC2}" type="pres">
      <dgm:prSet presAssocID="{B2914D71-ECFC-46B1-A017-536B2CE62E6A}" presName="connectorText" presStyleLbl="sibTrans2D1" presStyleIdx="3" presStyleCnt="5"/>
      <dgm:spPr/>
    </dgm:pt>
    <dgm:pt modelId="{3A72BA92-95E4-44F9-8C6C-9A996B7CA101}" type="pres">
      <dgm:prSet presAssocID="{D07D6E28-571E-4489-8BA4-B7830438CD66}" presName="node" presStyleLbl="node1" presStyleIdx="4" presStyleCnt="6">
        <dgm:presLayoutVars>
          <dgm:bulletEnabled val="1"/>
        </dgm:presLayoutVars>
      </dgm:prSet>
      <dgm:spPr/>
    </dgm:pt>
    <dgm:pt modelId="{68CB467C-D5CE-4A95-952D-43DFC9C90E95}" type="pres">
      <dgm:prSet presAssocID="{E188368A-CB29-4447-BE2F-9037E9A1629A}" presName="sibTrans" presStyleLbl="sibTrans2D1" presStyleIdx="4" presStyleCnt="5"/>
      <dgm:spPr/>
    </dgm:pt>
    <dgm:pt modelId="{B7C27762-E23F-434F-91EB-286307D25878}" type="pres">
      <dgm:prSet presAssocID="{E188368A-CB29-4447-BE2F-9037E9A1629A}" presName="connectorText" presStyleLbl="sibTrans2D1" presStyleIdx="4" presStyleCnt="5"/>
      <dgm:spPr/>
    </dgm:pt>
    <dgm:pt modelId="{3DB49890-3529-4970-B0A9-3F723B2BC2FE}" type="pres">
      <dgm:prSet presAssocID="{2F1E6E90-3DDE-40E6-9632-8FC93156C2F0}" presName="node" presStyleLbl="node1" presStyleIdx="5" presStyleCnt="6">
        <dgm:presLayoutVars>
          <dgm:bulletEnabled val="1"/>
        </dgm:presLayoutVars>
      </dgm:prSet>
      <dgm:spPr/>
    </dgm:pt>
  </dgm:ptLst>
  <dgm:cxnLst>
    <dgm:cxn modelId="{4A13AA0D-408E-471F-8754-B24A504B3099}" type="presOf" srcId="{F4AAD7D4-FE54-4123-8727-40F0BCD12EB9}" destId="{3290F25D-4C73-4939-9BF3-F3F6EA59D269}" srcOrd="0" destOrd="0" presId="urn:microsoft.com/office/officeart/2005/8/layout/process5"/>
    <dgm:cxn modelId="{1D01980E-5C5E-4F82-8805-CAD823860527}" srcId="{A9BBD783-1036-4B1A-B562-7326F927F1EE}" destId="{F4AAD7D4-FE54-4123-8727-40F0BCD12EB9}" srcOrd="2" destOrd="0" parTransId="{D3849CC6-0E9C-4DF8-910D-81D56A440130}" sibTransId="{26F0349D-0B6F-4DE7-BA41-AA3632D2F06A}"/>
    <dgm:cxn modelId="{63A71F10-D461-441D-82ED-E95BCA081B00}" type="presOf" srcId="{D07D6E28-571E-4489-8BA4-B7830438CD66}" destId="{3A72BA92-95E4-44F9-8C6C-9A996B7CA101}" srcOrd="0" destOrd="0" presId="urn:microsoft.com/office/officeart/2005/8/layout/process5"/>
    <dgm:cxn modelId="{2F11AB13-4AB5-4F55-A211-74F8B6FAF2E7}" type="presOf" srcId="{AC5FFF4E-2B6C-44F7-A7B1-CFD7092BB7EB}" destId="{913BEC79-2644-4659-9F5C-69A596F72D6E}" srcOrd="1" destOrd="0" presId="urn:microsoft.com/office/officeart/2005/8/layout/process5"/>
    <dgm:cxn modelId="{5F00D31A-02DA-4BD6-8D36-66B490E31115}" type="presOf" srcId="{EA09AC1C-04CD-4F4B-A3BD-31B96DD89B24}" destId="{96115914-0F8E-4A83-8AEF-29B4B69BB407}" srcOrd="0" destOrd="0" presId="urn:microsoft.com/office/officeart/2005/8/layout/process5"/>
    <dgm:cxn modelId="{B5725620-3548-4CB2-8C51-498317D43498}" type="presOf" srcId="{E188368A-CB29-4447-BE2F-9037E9A1629A}" destId="{B7C27762-E23F-434F-91EB-286307D25878}" srcOrd="1" destOrd="0" presId="urn:microsoft.com/office/officeart/2005/8/layout/process5"/>
    <dgm:cxn modelId="{488FFC24-5158-47BA-88AD-4FAD034E758A}" type="presOf" srcId="{E188368A-CB29-4447-BE2F-9037E9A1629A}" destId="{68CB467C-D5CE-4A95-952D-43DFC9C90E95}" srcOrd="0" destOrd="0" presId="urn:microsoft.com/office/officeart/2005/8/layout/process5"/>
    <dgm:cxn modelId="{41877C2F-FE93-471B-A9E8-7612FD0F38B1}" type="presOf" srcId="{B2914D71-ECFC-46B1-A017-536B2CE62E6A}" destId="{B59EE8BC-AE25-4373-8B58-CC4C876DDAF9}" srcOrd="0" destOrd="0" presId="urn:microsoft.com/office/officeart/2005/8/layout/process5"/>
    <dgm:cxn modelId="{672A9D5E-D19C-433B-A5B8-DBFDF0AC23E5}" type="presOf" srcId="{26F0349D-0B6F-4DE7-BA41-AA3632D2F06A}" destId="{5C13826C-9BC5-4856-9688-EADECBEAC213}" srcOrd="0" destOrd="0" presId="urn:microsoft.com/office/officeart/2005/8/layout/process5"/>
    <dgm:cxn modelId="{7C2F5D6F-13BC-45C5-8227-7B862F14EC69}" type="presOf" srcId="{2F1E6E90-3DDE-40E6-9632-8FC93156C2F0}" destId="{3DB49890-3529-4970-B0A9-3F723B2BC2FE}" srcOrd="0" destOrd="0" presId="urn:microsoft.com/office/officeart/2005/8/layout/process5"/>
    <dgm:cxn modelId="{F591C74F-71B2-47AD-BC8F-73A10F281856}" srcId="{A9BBD783-1036-4B1A-B562-7326F927F1EE}" destId="{E6683A02-E340-4101-BAC8-0B80ABD85BB4}" srcOrd="1" destOrd="0" parTransId="{21ADE8A4-12FC-4A54-BDFB-BA97D41B788B}" sibTransId="{AC5FFF4E-2B6C-44F7-A7B1-CFD7092BB7EB}"/>
    <dgm:cxn modelId="{D4F28570-224F-41D3-B0C6-FB62B6FF512E}" srcId="{A9BBD783-1036-4B1A-B562-7326F927F1EE}" destId="{D02073CB-F41C-499E-8A7F-9CA1F4829AEB}" srcOrd="3" destOrd="0" parTransId="{530614E8-D367-49E9-9711-0ACEE15A4F89}" sibTransId="{B2914D71-ECFC-46B1-A017-536B2CE62E6A}"/>
    <dgm:cxn modelId="{D4053C72-0D2A-4AC8-A9B9-7AB72AD6A00A}" srcId="{A9BBD783-1036-4B1A-B562-7326F927F1EE}" destId="{D07D6E28-571E-4489-8BA4-B7830438CD66}" srcOrd="4" destOrd="0" parTransId="{9ECA061D-629F-4B31-9535-4145BC4836B1}" sibTransId="{E188368A-CB29-4447-BE2F-9037E9A1629A}"/>
    <dgm:cxn modelId="{E41B847A-E909-44BD-9B6D-8F51AA38D7B9}" type="presOf" srcId="{26F0349D-0B6F-4DE7-BA41-AA3632D2F06A}" destId="{C85499DC-AABA-4A7E-AD20-E5BE851DB328}" srcOrd="1" destOrd="0" presId="urn:microsoft.com/office/officeart/2005/8/layout/process5"/>
    <dgm:cxn modelId="{ABBF3485-0210-45DE-817C-E77D0CCDD3C1}" type="presOf" srcId="{339A574D-A7A7-46A0-A380-0147233E0833}" destId="{9C95A114-B903-4E9B-8FBB-7C8F9BF63B8B}" srcOrd="0" destOrd="0" presId="urn:microsoft.com/office/officeart/2005/8/layout/process5"/>
    <dgm:cxn modelId="{BEB6D585-39A7-4EC5-A69D-E9858877852E}" type="presOf" srcId="{A9BBD783-1036-4B1A-B562-7326F927F1EE}" destId="{2E00C400-6786-4272-B229-985348BFB3BB}" srcOrd="0" destOrd="0" presId="urn:microsoft.com/office/officeart/2005/8/layout/process5"/>
    <dgm:cxn modelId="{BEBF4AA2-1075-4934-9FA6-5409E1186100}" srcId="{A9BBD783-1036-4B1A-B562-7326F927F1EE}" destId="{339A574D-A7A7-46A0-A380-0147233E0833}" srcOrd="0" destOrd="0" parTransId="{9D16057E-55E8-4BB4-B42C-8C295DB25536}" sibTransId="{EA09AC1C-04CD-4F4B-A3BD-31B96DD89B24}"/>
    <dgm:cxn modelId="{B138B4AD-30FD-46C9-8893-A3717B7C5067}" type="presOf" srcId="{AC5FFF4E-2B6C-44F7-A7B1-CFD7092BB7EB}" destId="{C5D61D54-2FE7-4A7F-A456-40F71086B02C}" srcOrd="0" destOrd="0" presId="urn:microsoft.com/office/officeart/2005/8/layout/process5"/>
    <dgm:cxn modelId="{60EDB1CA-2A29-414B-83D5-96D8DA5C1C60}" type="presOf" srcId="{D02073CB-F41C-499E-8A7F-9CA1F4829AEB}" destId="{65C3943E-E19A-410B-9D04-9A17BE750DA8}" srcOrd="0" destOrd="0" presId="urn:microsoft.com/office/officeart/2005/8/layout/process5"/>
    <dgm:cxn modelId="{8DBB54E6-3961-4513-885C-034C9FA40FFA}" type="presOf" srcId="{E6683A02-E340-4101-BAC8-0B80ABD85BB4}" destId="{825E9182-0BBE-4C9F-ABE5-CE7C7C9DCC88}" srcOrd="0" destOrd="0" presId="urn:microsoft.com/office/officeart/2005/8/layout/process5"/>
    <dgm:cxn modelId="{D4F919EC-8561-4859-83B3-ECA55A0EBDF2}" type="presOf" srcId="{EA09AC1C-04CD-4F4B-A3BD-31B96DD89B24}" destId="{F86040C0-A8E7-4AE8-8CF0-DE022EBCDE1E}" srcOrd="1" destOrd="0" presId="urn:microsoft.com/office/officeart/2005/8/layout/process5"/>
    <dgm:cxn modelId="{75C587ED-4903-4052-BD7D-5A24D980F07E}" srcId="{A9BBD783-1036-4B1A-B562-7326F927F1EE}" destId="{2F1E6E90-3DDE-40E6-9632-8FC93156C2F0}" srcOrd="5" destOrd="0" parTransId="{EF6D3AB8-3C2A-4717-ABAA-8564493185A7}" sibTransId="{15C1C4F5-3028-41C6-BDCB-E69481084325}"/>
    <dgm:cxn modelId="{9855B4EE-AFBD-412C-BDD3-B72C81BEEEEA}" type="presOf" srcId="{B2914D71-ECFC-46B1-A017-536B2CE62E6A}" destId="{33AA6743-3B6A-4B94-A6AD-197986F73DC2}" srcOrd="1" destOrd="0" presId="urn:microsoft.com/office/officeart/2005/8/layout/process5"/>
    <dgm:cxn modelId="{46AD8EED-D02C-44DD-B11F-ACDEB44533D6}" type="presParOf" srcId="{2E00C400-6786-4272-B229-985348BFB3BB}" destId="{9C95A114-B903-4E9B-8FBB-7C8F9BF63B8B}" srcOrd="0" destOrd="0" presId="urn:microsoft.com/office/officeart/2005/8/layout/process5"/>
    <dgm:cxn modelId="{8E13CDAD-C373-4142-8478-803083F4ACED}" type="presParOf" srcId="{2E00C400-6786-4272-B229-985348BFB3BB}" destId="{96115914-0F8E-4A83-8AEF-29B4B69BB407}" srcOrd="1" destOrd="0" presId="urn:microsoft.com/office/officeart/2005/8/layout/process5"/>
    <dgm:cxn modelId="{3A4D6676-4600-4140-A41D-6E63E6DE32D1}" type="presParOf" srcId="{96115914-0F8E-4A83-8AEF-29B4B69BB407}" destId="{F86040C0-A8E7-4AE8-8CF0-DE022EBCDE1E}" srcOrd="0" destOrd="0" presId="urn:microsoft.com/office/officeart/2005/8/layout/process5"/>
    <dgm:cxn modelId="{D1572897-4952-4AE4-B2B2-A3AC5BDE2A24}" type="presParOf" srcId="{2E00C400-6786-4272-B229-985348BFB3BB}" destId="{825E9182-0BBE-4C9F-ABE5-CE7C7C9DCC88}" srcOrd="2" destOrd="0" presId="urn:microsoft.com/office/officeart/2005/8/layout/process5"/>
    <dgm:cxn modelId="{BCA07CD9-A954-4BA2-890D-EF2307DAA7FD}" type="presParOf" srcId="{2E00C400-6786-4272-B229-985348BFB3BB}" destId="{C5D61D54-2FE7-4A7F-A456-40F71086B02C}" srcOrd="3" destOrd="0" presId="urn:microsoft.com/office/officeart/2005/8/layout/process5"/>
    <dgm:cxn modelId="{5136FD5E-41B7-483D-B18D-86AED0CCBC3A}" type="presParOf" srcId="{C5D61D54-2FE7-4A7F-A456-40F71086B02C}" destId="{913BEC79-2644-4659-9F5C-69A596F72D6E}" srcOrd="0" destOrd="0" presId="urn:microsoft.com/office/officeart/2005/8/layout/process5"/>
    <dgm:cxn modelId="{B3D7AEE7-AA9A-461E-9C7D-E10A8A4C976B}" type="presParOf" srcId="{2E00C400-6786-4272-B229-985348BFB3BB}" destId="{3290F25D-4C73-4939-9BF3-F3F6EA59D269}" srcOrd="4" destOrd="0" presId="urn:microsoft.com/office/officeart/2005/8/layout/process5"/>
    <dgm:cxn modelId="{31F94CB5-CB10-4396-9E63-28F5FAE6C636}" type="presParOf" srcId="{2E00C400-6786-4272-B229-985348BFB3BB}" destId="{5C13826C-9BC5-4856-9688-EADECBEAC213}" srcOrd="5" destOrd="0" presId="urn:microsoft.com/office/officeart/2005/8/layout/process5"/>
    <dgm:cxn modelId="{A6497D75-762D-4885-A162-3DAA66CC6626}" type="presParOf" srcId="{5C13826C-9BC5-4856-9688-EADECBEAC213}" destId="{C85499DC-AABA-4A7E-AD20-E5BE851DB328}" srcOrd="0" destOrd="0" presId="urn:microsoft.com/office/officeart/2005/8/layout/process5"/>
    <dgm:cxn modelId="{0ECF57B0-2CBF-4752-BCAD-283C3E7F872E}" type="presParOf" srcId="{2E00C400-6786-4272-B229-985348BFB3BB}" destId="{65C3943E-E19A-410B-9D04-9A17BE750DA8}" srcOrd="6" destOrd="0" presId="urn:microsoft.com/office/officeart/2005/8/layout/process5"/>
    <dgm:cxn modelId="{D0C0E37D-CB69-4637-8A30-5954D1D0C2FC}" type="presParOf" srcId="{2E00C400-6786-4272-B229-985348BFB3BB}" destId="{B59EE8BC-AE25-4373-8B58-CC4C876DDAF9}" srcOrd="7" destOrd="0" presId="urn:microsoft.com/office/officeart/2005/8/layout/process5"/>
    <dgm:cxn modelId="{06029433-03B1-47E8-B4A6-08184F870E57}" type="presParOf" srcId="{B59EE8BC-AE25-4373-8B58-CC4C876DDAF9}" destId="{33AA6743-3B6A-4B94-A6AD-197986F73DC2}" srcOrd="0" destOrd="0" presId="urn:microsoft.com/office/officeart/2005/8/layout/process5"/>
    <dgm:cxn modelId="{4EB9A96C-E83E-4BFF-8601-67958F3BC925}" type="presParOf" srcId="{2E00C400-6786-4272-B229-985348BFB3BB}" destId="{3A72BA92-95E4-44F9-8C6C-9A996B7CA101}" srcOrd="8" destOrd="0" presId="urn:microsoft.com/office/officeart/2005/8/layout/process5"/>
    <dgm:cxn modelId="{D886C233-E963-47F0-ABE7-DDAE37E534DB}" type="presParOf" srcId="{2E00C400-6786-4272-B229-985348BFB3BB}" destId="{68CB467C-D5CE-4A95-952D-43DFC9C90E95}" srcOrd="9" destOrd="0" presId="urn:microsoft.com/office/officeart/2005/8/layout/process5"/>
    <dgm:cxn modelId="{0FF57069-0D67-4FC4-9235-35531ADDBD8A}" type="presParOf" srcId="{68CB467C-D5CE-4A95-952D-43DFC9C90E95}" destId="{B7C27762-E23F-434F-91EB-286307D25878}" srcOrd="0" destOrd="0" presId="urn:microsoft.com/office/officeart/2005/8/layout/process5"/>
    <dgm:cxn modelId="{14B1897A-6418-45CC-88D3-E2BB762AE241}" type="presParOf" srcId="{2E00C400-6786-4272-B229-985348BFB3BB}" destId="{3DB49890-3529-4970-B0A9-3F723B2BC2FE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95A114-B903-4E9B-8FBB-7C8F9BF63B8B}">
      <dsp:nvSpPr>
        <dsp:cNvPr id="0" name=""/>
        <dsp:cNvSpPr/>
      </dsp:nvSpPr>
      <dsp:spPr>
        <a:xfrm>
          <a:off x="656699" y="1481"/>
          <a:ext cx="2522494" cy="15134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400" b="1" kern="1200" dirty="0"/>
            <a:t> Raw data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400" kern="1200" dirty="0"/>
            <a:t>(CSV)</a:t>
          </a:r>
          <a:endParaRPr lang="en-US" sz="1400" kern="1200" dirty="0"/>
        </a:p>
      </dsp:txBody>
      <dsp:txXfrm>
        <a:off x="701028" y="45810"/>
        <a:ext cx="2433836" cy="1424838"/>
      </dsp:txXfrm>
    </dsp:sp>
    <dsp:sp modelId="{96115914-0F8E-4A83-8AEF-29B4B69BB407}">
      <dsp:nvSpPr>
        <dsp:cNvPr id="0" name=""/>
        <dsp:cNvSpPr/>
      </dsp:nvSpPr>
      <dsp:spPr>
        <a:xfrm>
          <a:off x="3401173" y="445440"/>
          <a:ext cx="534768" cy="6255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401173" y="570556"/>
        <a:ext cx="374338" cy="375346"/>
      </dsp:txXfrm>
    </dsp:sp>
    <dsp:sp modelId="{825E9182-0BBE-4C9F-ABE5-CE7C7C9DCC88}">
      <dsp:nvSpPr>
        <dsp:cNvPr id="0" name=""/>
        <dsp:cNvSpPr/>
      </dsp:nvSpPr>
      <dsp:spPr>
        <a:xfrm>
          <a:off x="4188191" y="1481"/>
          <a:ext cx="2522494" cy="15134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400" b="1" kern="1200" dirty="0"/>
            <a:t>INGESTION AND TRANSFORMATION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400" kern="1200" dirty="0"/>
            <a:t> (Python|Pandas|SQLAlchemy)</a:t>
          </a:r>
          <a:endParaRPr lang="en-US" sz="1400" kern="1200" dirty="0"/>
        </a:p>
      </dsp:txBody>
      <dsp:txXfrm>
        <a:off x="4232520" y="45810"/>
        <a:ext cx="2433836" cy="1424838"/>
      </dsp:txXfrm>
    </dsp:sp>
    <dsp:sp modelId="{C5D61D54-2FE7-4A7F-A456-40F71086B02C}">
      <dsp:nvSpPr>
        <dsp:cNvPr id="0" name=""/>
        <dsp:cNvSpPr/>
      </dsp:nvSpPr>
      <dsp:spPr>
        <a:xfrm>
          <a:off x="6932665" y="445440"/>
          <a:ext cx="534768" cy="6255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6932665" y="570556"/>
        <a:ext cx="374338" cy="375346"/>
      </dsp:txXfrm>
    </dsp:sp>
    <dsp:sp modelId="{3290F25D-4C73-4939-9BF3-F3F6EA59D269}">
      <dsp:nvSpPr>
        <dsp:cNvPr id="0" name=""/>
        <dsp:cNvSpPr/>
      </dsp:nvSpPr>
      <dsp:spPr>
        <a:xfrm>
          <a:off x="7719683" y="1481"/>
          <a:ext cx="2522494" cy="15134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400" b="1" kern="1200" dirty="0"/>
            <a:t>STORAGE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400" kern="1200" dirty="0"/>
            <a:t>(local PostgreSQL)</a:t>
          </a:r>
          <a:endParaRPr lang="en-US" sz="1400" kern="1200" dirty="0"/>
        </a:p>
      </dsp:txBody>
      <dsp:txXfrm>
        <a:off x="7764012" y="45810"/>
        <a:ext cx="2433836" cy="1424838"/>
      </dsp:txXfrm>
    </dsp:sp>
    <dsp:sp modelId="{5C13826C-9BC5-4856-9688-EADECBEAC213}">
      <dsp:nvSpPr>
        <dsp:cNvPr id="0" name=""/>
        <dsp:cNvSpPr/>
      </dsp:nvSpPr>
      <dsp:spPr>
        <a:xfrm rot="5400000">
          <a:off x="8713546" y="1691552"/>
          <a:ext cx="534768" cy="6255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8793257" y="1736957"/>
        <a:ext cx="375346" cy="374338"/>
      </dsp:txXfrm>
    </dsp:sp>
    <dsp:sp modelId="{65C3943E-E19A-410B-9D04-9A17BE750DA8}">
      <dsp:nvSpPr>
        <dsp:cNvPr id="0" name=""/>
        <dsp:cNvSpPr/>
      </dsp:nvSpPr>
      <dsp:spPr>
        <a:xfrm>
          <a:off x="7719683" y="2523975"/>
          <a:ext cx="2522494" cy="15134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400" b="1" kern="1200" dirty="0"/>
            <a:t>DATA MODELING, TESTING AND TRANSFORMATION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400" kern="1200" dirty="0"/>
            <a:t>(Dbt)</a:t>
          </a:r>
          <a:endParaRPr lang="en-US" sz="1400" kern="1200" dirty="0"/>
        </a:p>
      </dsp:txBody>
      <dsp:txXfrm>
        <a:off x="7764012" y="2568304"/>
        <a:ext cx="2433836" cy="1424838"/>
      </dsp:txXfrm>
    </dsp:sp>
    <dsp:sp modelId="{B59EE8BC-AE25-4373-8B58-CC4C876DDAF9}">
      <dsp:nvSpPr>
        <dsp:cNvPr id="0" name=""/>
        <dsp:cNvSpPr/>
      </dsp:nvSpPr>
      <dsp:spPr>
        <a:xfrm rot="10800000">
          <a:off x="6962935" y="2967934"/>
          <a:ext cx="534768" cy="6255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7123365" y="3093050"/>
        <a:ext cx="374338" cy="375346"/>
      </dsp:txXfrm>
    </dsp:sp>
    <dsp:sp modelId="{3A72BA92-95E4-44F9-8C6C-9A996B7CA101}">
      <dsp:nvSpPr>
        <dsp:cNvPr id="0" name=""/>
        <dsp:cNvSpPr/>
      </dsp:nvSpPr>
      <dsp:spPr>
        <a:xfrm>
          <a:off x="4188191" y="2523975"/>
          <a:ext cx="2522494" cy="15134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lt-LT" sz="1400" b="1" kern="1200" dirty="0"/>
            <a:t>VISUALIZATION</a:t>
          </a:r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lt-LT" sz="1400" kern="1200" dirty="0"/>
            <a:t>(Power BI, Excel, Power point)</a:t>
          </a:r>
        </a:p>
        <a:p>
          <a:pPr marL="0"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4232520" y="2568304"/>
        <a:ext cx="2433836" cy="1424838"/>
      </dsp:txXfrm>
    </dsp:sp>
    <dsp:sp modelId="{68CB467C-D5CE-4A95-952D-43DFC9C90E95}">
      <dsp:nvSpPr>
        <dsp:cNvPr id="0" name=""/>
        <dsp:cNvSpPr/>
      </dsp:nvSpPr>
      <dsp:spPr>
        <a:xfrm rot="10800000">
          <a:off x="3431443" y="2967934"/>
          <a:ext cx="534768" cy="6255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3591873" y="3093050"/>
        <a:ext cx="374338" cy="375346"/>
      </dsp:txXfrm>
    </dsp:sp>
    <dsp:sp modelId="{3DB49890-3529-4970-B0A9-3F723B2BC2FE}">
      <dsp:nvSpPr>
        <dsp:cNvPr id="0" name=""/>
        <dsp:cNvSpPr/>
      </dsp:nvSpPr>
      <dsp:spPr>
        <a:xfrm>
          <a:off x="656699" y="2523975"/>
          <a:ext cx="2522494" cy="15134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400" b="1" kern="1200" dirty="0"/>
            <a:t>DELIVERABLES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1400" kern="1200" dirty="0"/>
            <a:t>(PBI Dashboard, Excel Report, Pptx/pdf report)</a:t>
          </a:r>
        </a:p>
      </dsp:txBody>
      <dsp:txXfrm>
        <a:off x="701028" y="2568304"/>
        <a:ext cx="2433836" cy="14248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34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00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876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7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49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6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6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0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71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100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62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04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2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21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5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17D4BA3-ACA7-4BED-BE4B-1152A6DDCF1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AE49D77-0080-439E-8D00-ACC2D73A5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E07C2-28CC-A451-3EA1-15F95DAA0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573" y="453028"/>
            <a:ext cx="10992465" cy="2616199"/>
          </a:xfrm>
        </p:spPr>
        <p:txBody>
          <a:bodyPr>
            <a:normAutofit/>
          </a:bodyPr>
          <a:lstStyle/>
          <a:p>
            <a:r>
              <a:rPr lang="lt-LT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TOYS SALES ANALYSIS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38961F-1C3F-4206-D6D7-A44FAA9DC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9742" y="3429000"/>
            <a:ext cx="7472516" cy="157964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data pipeline project</a:t>
            </a:r>
            <a:endParaRPr lang="lt-LT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Benas Baranovskis</a:t>
            </a:r>
          </a:p>
          <a:p>
            <a:pPr algn="ctr"/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336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71B92-C785-99FC-3CC4-5867EEE7B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007" y="1338519"/>
            <a:ext cx="3704303" cy="315912"/>
          </a:xfrm>
        </p:spPr>
        <p:txBody>
          <a:bodyPr>
            <a:noAutofit/>
          </a:bodyPr>
          <a:lstStyle/>
          <a:p>
            <a:r>
              <a:rPr lang="lt-L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0D0D7-ACFE-A332-FCCA-A436CBB5D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7358" y="2075477"/>
            <a:ext cx="10960510" cy="3690272"/>
          </a:xfrm>
        </p:spPr>
        <p:txBody>
          <a:bodyPr>
            <a:normAutofit lnSpcReduction="10000"/>
          </a:bodyPr>
          <a:lstStyle/>
          <a:p>
            <a:r>
              <a:rPr lang="lt-L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model: 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toys is a toys retail company in Mexico, which is operating stores in different cities and locations and it sells different toy products.</a:t>
            </a:r>
          </a:p>
          <a:p>
            <a:r>
              <a:rPr lang="lt-L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data: 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tables. The sales table has around 829k rows and stores past sale data from January 2022 to September 2023.</a:t>
            </a:r>
          </a:p>
          <a:p>
            <a:r>
              <a:rPr lang="lt-L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GOAL: To understand what business decisions they could derive from their (past) data, which might convert to more revenue and profit in the future. </a:t>
            </a:r>
          </a:p>
          <a:p>
            <a:r>
              <a:rPr lang="lt-L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goal: To create a structure for data automatization process, so that the results could be delivered more efficiently and more sustainably.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811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EAB73-C07F-28DA-4F40-D8D8992A9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819" y="554932"/>
            <a:ext cx="9379974" cy="460785"/>
          </a:xfrm>
        </p:spPr>
        <p:txBody>
          <a:bodyPr>
            <a:normAutofit fontScale="90000"/>
          </a:bodyPr>
          <a:lstStyle/>
          <a:p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 AND RESULT DELIVERING PROCESS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8A8CCA-EA7B-CCF8-701F-8529F8117D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1617144"/>
              </p:ext>
            </p:extLst>
          </p:nvPr>
        </p:nvGraphicFramePr>
        <p:xfrm>
          <a:off x="919496" y="1659461"/>
          <a:ext cx="10898878" cy="4038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B587043-4790-AAFC-393C-3466D288A08D}"/>
              </a:ext>
            </a:extLst>
          </p:cNvPr>
          <p:cNvSpPr txBox="1"/>
          <p:nvPr/>
        </p:nvSpPr>
        <p:spPr>
          <a:xfrm>
            <a:off x="5624052" y="5230761"/>
            <a:ext cx="100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525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AC84E-E9DD-664E-0F8B-9F44A03D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683" y="280283"/>
            <a:ext cx="7981336" cy="315912"/>
          </a:xfrm>
        </p:spPr>
        <p:txBody>
          <a:bodyPr>
            <a:normAutofit fontScale="90000"/>
          </a:bodyPr>
          <a:lstStyle/>
          <a:p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 – From star schema to one big table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5C382CF-4216-625E-5B68-E282108EF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007" y="917586"/>
            <a:ext cx="4490885" cy="48834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770F70-5D01-AE42-8CAE-014FDF2165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9279" y="1555341"/>
            <a:ext cx="3524250" cy="39243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FDCA931-D0EC-722B-F7C3-BE0BB69839BF}"/>
              </a:ext>
            </a:extLst>
          </p:cNvPr>
          <p:cNvCxnSpPr>
            <a:cxnSpLocks/>
          </p:cNvCxnSpPr>
          <p:nvPr/>
        </p:nvCxnSpPr>
        <p:spPr>
          <a:xfrm>
            <a:off x="6096000" y="3446208"/>
            <a:ext cx="109906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8074993-7092-ACB7-C7A2-5B1697F72063}"/>
              </a:ext>
            </a:extLst>
          </p:cNvPr>
          <p:cNvSpPr txBox="1"/>
          <p:nvPr/>
        </p:nvSpPr>
        <p:spPr>
          <a:xfrm>
            <a:off x="2104103" y="5801032"/>
            <a:ext cx="9694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Star schema was ingested, which was big and inefficient. Layered with Dbt and created an OBT model with automatic metric counting.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13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F084-A559-B151-8C12-F385AB556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91" y="235048"/>
            <a:ext cx="10515600" cy="315911"/>
          </a:xfrm>
        </p:spPr>
        <p:txBody>
          <a:bodyPr>
            <a:noAutofit/>
          </a:bodyPr>
          <a:lstStyle/>
          <a:p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KF 1– REVENUE TRENDS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4D2B8AC-9A69-77B7-90E2-511B345FD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757" y="699629"/>
            <a:ext cx="7868657" cy="44163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C44425-AF65-CB32-3258-FCA679852915}"/>
              </a:ext>
            </a:extLst>
          </p:cNvPr>
          <p:cNvSpPr txBox="1"/>
          <p:nvPr/>
        </p:nvSpPr>
        <p:spPr>
          <a:xfrm>
            <a:off x="1993099" y="5264667"/>
            <a:ext cx="89010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spike of revenue and profit during December can be seen. This is due to Christmas holiday season. In April its Día del Niño (Children‘s day) in Mexico.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consistently stronger than 2022 </a:t>
            </a: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growth trend confirmed</a:t>
            </a: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 stable at ~25% despite revenue fluctuations</a:t>
            </a: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6958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ECC74-0251-0BBC-C16E-7013BC8D6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6903" y="114402"/>
            <a:ext cx="6499334" cy="490281"/>
          </a:xfrm>
        </p:spPr>
        <p:txBody>
          <a:bodyPr>
            <a:noAutofit/>
          </a:bodyPr>
          <a:lstStyle/>
          <a:p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KF 2 – PRODUCT PERFORMANCE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6752DA-795F-FFF4-B175-145E1E848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43" y="604683"/>
            <a:ext cx="7530313" cy="44638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1C1483-7406-C0DA-54D9-15AE5052FDC9}"/>
              </a:ext>
            </a:extLst>
          </p:cNvPr>
          <p:cNvSpPr txBox="1"/>
          <p:nvPr/>
        </p:nvSpPr>
        <p:spPr>
          <a:xfrm>
            <a:off x="2250744" y="5068529"/>
            <a:ext cx="84369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Colorbuds (electronics) are making the most profit during the period. (Cost 6.99, Retail Price 14.99)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products might need more marketing or discounts. Revenue generation must be diversified to lower the supply chain risks.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No marketing performance data.</a:t>
            </a:r>
          </a:p>
        </p:txBody>
      </p:sp>
    </p:spTree>
    <p:extLst>
      <p:ext uri="{BB962C8B-B14F-4D97-AF65-F5344CB8AC3E}">
        <p14:creationId xmlns:p14="http://schemas.microsoft.com/office/powerpoint/2010/main" val="2920730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2F9A0-0D10-E2C6-B004-A038DFACB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7503" y="230085"/>
            <a:ext cx="7007942" cy="490281"/>
          </a:xfrm>
        </p:spPr>
        <p:txBody>
          <a:bodyPr>
            <a:noAutofit/>
          </a:bodyPr>
          <a:lstStyle/>
          <a:p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KF 3 – STORE LOCATION INSIGHTS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74AB6B-8363-C919-54F5-9821F3FD6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805" y="720366"/>
            <a:ext cx="5979317" cy="42735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678E9-2BC3-52EB-8C49-B808C1C9C199}"/>
              </a:ext>
            </a:extLst>
          </p:cNvPr>
          <p:cNvSpPr txBox="1"/>
          <p:nvPr/>
        </p:nvSpPr>
        <p:spPr>
          <a:xfrm>
            <a:off x="7759954" y="720366"/>
            <a:ext cx="37241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Downtown location generates the most revenue and profit.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Downtown 29 stores in Airport 3 stores.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Airport location has a better performance on average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No store operating costs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5CE84C-D7D3-17D3-8967-30941A31E6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805" y="4993927"/>
            <a:ext cx="4054191" cy="131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041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0FA80-223A-274F-16C8-C1B071033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077" y="176386"/>
            <a:ext cx="10380406" cy="389348"/>
          </a:xfrm>
        </p:spPr>
        <p:txBody>
          <a:bodyPr>
            <a:noAutofit/>
          </a:bodyPr>
          <a:lstStyle/>
          <a:p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KF 4 – PERFORMANCE BY CITY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6DDFDA-E2CD-F142-C3AE-99E7A4ED82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866" y="609601"/>
            <a:ext cx="7341554" cy="44351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FB5B91-A053-334A-5C37-7D3817B52B91}"/>
              </a:ext>
            </a:extLst>
          </p:cNvPr>
          <p:cNvSpPr txBox="1"/>
          <p:nvPr/>
        </p:nvSpPr>
        <p:spPr>
          <a:xfrm>
            <a:off x="2775155" y="5132439"/>
            <a:ext cx="721226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Ciudad de Mexico (4 stores) the capital city generates the most revenue and profit. More population means more profit.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stores in the city means more revenue from the city. Altough population matters too.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408787-6A80-158E-C932-1E7B118C3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356" y="3421503"/>
            <a:ext cx="2850127" cy="162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61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AE538-084A-F428-4334-174A57A02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8" y="181703"/>
            <a:ext cx="10515600" cy="450952"/>
          </a:xfrm>
        </p:spPr>
        <p:txBody>
          <a:bodyPr>
            <a:noAutofit/>
          </a:bodyPr>
          <a:lstStyle/>
          <a:p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KF 5 – INVENTORY RISK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02E19F-88EF-0A92-712A-7E4CCBA10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607" y="706397"/>
            <a:ext cx="6549549" cy="4455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101E49-0C0B-3511-1ED5-3D2F882E31E6}"/>
              </a:ext>
            </a:extLst>
          </p:cNvPr>
          <p:cNvSpPr txBox="1"/>
          <p:nvPr/>
        </p:nvSpPr>
        <p:spPr>
          <a:xfrm>
            <a:off x="2397607" y="5309419"/>
            <a:ext cx="65495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at inventory risk: Action figure and Colorbuds.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are sold the best.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t-L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 it is better to stock up on them before holiday season.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103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8870-91BC-642F-054D-E37470C18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54" y="394622"/>
            <a:ext cx="10409903" cy="490281"/>
          </a:xfrm>
        </p:spPr>
        <p:txBody>
          <a:bodyPr>
            <a:noAutofit/>
          </a:bodyPr>
          <a:lstStyle/>
          <a:p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BUSINESS DECISIONS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45FA6-441F-3E4D-F383-2FEDF475F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781" y="1155699"/>
            <a:ext cx="9751142" cy="4840646"/>
          </a:xfrm>
        </p:spPr>
        <p:txBody>
          <a:bodyPr/>
          <a:lstStyle/>
          <a:p>
            <a:pPr algn="just"/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up on Colorbuds and Action figures.</a:t>
            </a:r>
          </a:p>
          <a:p>
            <a:pPr algn="just"/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more shops in Ciudad de Mexico.</a:t>
            </a:r>
          </a:p>
          <a:p>
            <a:pPr algn="just"/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marketing performance of Lego bricks and others. </a:t>
            </a:r>
          </a:p>
          <a:p>
            <a:pPr algn="just"/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Diversify the revenue and profit generation over different products 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mitigate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supply chain risks.</a:t>
            </a:r>
          </a:p>
          <a:p>
            <a:pPr algn="just"/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store operating cost data and analyze if it would be profitable to open more stores at Airport locations.</a:t>
            </a:r>
          </a:p>
          <a:p>
            <a:pPr algn="just"/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Greatest inventory risks are at Decem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</a:t>
            </a:r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April, check inventory before those months and stock up if needed. </a:t>
            </a:r>
          </a:p>
          <a:p>
            <a:pPr algn="just"/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growth driver is Colorbuds, understand why people are buying them.</a:t>
            </a:r>
          </a:p>
        </p:txBody>
      </p:sp>
    </p:spTree>
    <p:extLst>
      <p:ext uri="{BB962C8B-B14F-4D97-AF65-F5344CB8AC3E}">
        <p14:creationId xmlns:p14="http://schemas.microsoft.com/office/powerpoint/2010/main" val="4286172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5EBF3-209F-1A11-10F7-1DBB4F36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77"/>
            <a:ext cx="10439400" cy="559107"/>
          </a:xfrm>
        </p:spPr>
        <p:txBody>
          <a:bodyPr>
            <a:normAutofit fontScale="90000"/>
          </a:bodyPr>
          <a:lstStyle/>
          <a:p>
            <a:r>
              <a:rPr lang="lt-L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– WHAT HAVE I LEARNT?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49A80-D358-4D35-834A-CD4699D3D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329" y="842398"/>
            <a:ext cx="10333703" cy="5817625"/>
          </a:xfrm>
        </p:spPr>
        <p:txBody>
          <a:bodyPr>
            <a:normAutofit/>
          </a:bodyPr>
          <a:lstStyle/>
          <a:p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learnt to ingest data with Python.</a:t>
            </a:r>
          </a:p>
          <a:p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used Dbt to build staging, intermediate, mart layers and turned inefficient star schema into one big table with pre-calculated metrics.</a:t>
            </a:r>
          </a:p>
          <a:p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Produced a Power BI dashboard, excel report, pptx/pdf report with business decision suggestions. </a:t>
            </a:r>
          </a:p>
          <a:p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Owned all the process from ingestion to deliverables. </a:t>
            </a:r>
          </a:p>
          <a:p>
            <a:pPr marL="0" indent="0">
              <a:buNone/>
            </a:pPr>
            <a:endParaRPr lang="lt-L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COULD BE IMPROVED:</a:t>
            </a:r>
          </a:p>
          <a:p>
            <a:pPr lvl="1"/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Airflow implementation for pipeline job orchestration.</a:t>
            </a:r>
          </a:p>
          <a:p>
            <a:pPr lvl="1"/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Airbyte to automate ingestion.</a:t>
            </a:r>
          </a:p>
          <a:p>
            <a:pPr lvl="1"/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fake sales data created and ingested. </a:t>
            </a:r>
          </a:p>
          <a:p>
            <a:pPr lvl="1"/>
            <a:r>
              <a:rPr lang="lt-L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could be implemented too.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2553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165</TotalTime>
  <Words>654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Corbel</vt:lpstr>
      <vt:lpstr>Times New Roman</vt:lpstr>
      <vt:lpstr>Parallax</vt:lpstr>
      <vt:lpstr>MAVEN TOYS SALES ANALYSIS</vt:lpstr>
      <vt:lpstr>PROJECT OVERVIEW</vt:lpstr>
      <vt:lpstr>DATA PIPELINE AND RESULT DELIVERING PROCESS</vt:lpstr>
      <vt:lpstr>DATA MODEL – From star schema to one big table</vt:lpstr>
      <vt:lpstr>KF 1– REVENUE TRENDS</vt:lpstr>
      <vt:lpstr>KF 2 – PRODUCT PERFORMANCE</vt:lpstr>
      <vt:lpstr>KF 3 – STORE LOCATION INSIGHTS</vt:lpstr>
      <vt:lpstr>KF 4 – PERFORMANCE BY CITY</vt:lpstr>
      <vt:lpstr>KF 5 – INVENTORY RISK</vt:lpstr>
      <vt:lpstr>RECOMMENDED BUSINESS DECISIONS</vt:lpstr>
      <vt:lpstr>CONCLUSION – WHAT HAVE I LEARNT?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Baranovskis</dc:creator>
  <cp:lastModifiedBy>Ben Baranovskis</cp:lastModifiedBy>
  <cp:revision>7</cp:revision>
  <dcterms:created xsi:type="dcterms:W3CDTF">2026-04-21T09:03:18Z</dcterms:created>
  <dcterms:modified xsi:type="dcterms:W3CDTF">2026-04-23T07:19:18Z</dcterms:modified>
</cp:coreProperties>
</file>